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変更件数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3月
1週</c:v>
                  </c:pt>
                  <c:pt idx="1">
                    <c:v>3月
2週</c:v>
                  </c:pt>
                  <c:pt idx="2">
                    <c:v>3月
3週</c:v>
                  </c:pt>
                  <c:pt idx="3">
                    <c:v>3月
4週</c:v>
                  </c:pt>
                  <c:pt idx="4">
                    <c:v>4月
1週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38</c:v>
                </c:pt>
                <c:pt idx="2">
                  <c:v>55</c:v>
                </c:pt>
                <c:pt idx="3">
                  <c:v>48</c:v>
                </c:pt>
                <c:pt idx="4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駆動開発ワークショップ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1645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32004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200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65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77440" y="32004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2377440" y="3200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03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14800" y="32004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0" y="3200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アジャイル × 仕様駆動開発 × AI ｜ 1日集中 ｜ 非エンジニア歓迎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本日のアジェンダ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832104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321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731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エージェントと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駆動開発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731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EC489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554480"/>
            <a:ext cx="45720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55064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55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554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体験① Vibe Coding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377440"/>
            <a:ext cx="45720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ランチ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20040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00984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200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体験② SDD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（Context Eng.）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2004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023360"/>
            <a:ext cx="4572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123944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体験③ Agentic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SDD（チーム）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40233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7315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731520"/>
            <a:ext cx="45720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731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休憩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15544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937760" y="155448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74920" y="165506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1655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77840" y="1554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ふりかえり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38160" y="1554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23774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</p:spPr>
      </p:sp>
      <p:sp>
        <p:nvSpPr>
          <p:cNvPr id="41" name="Shape 39"/>
          <p:cNvSpPr/>
          <p:nvPr/>
        </p:nvSpPr>
        <p:spPr>
          <a:xfrm>
            <a:off x="4937760" y="2377440"/>
            <a:ext cx="4572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Shape 40"/>
          <p:cNvSpPr/>
          <p:nvPr/>
        </p:nvSpPr>
        <p:spPr>
          <a:xfrm>
            <a:off x="5074920" y="2478024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7784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38160" y="23774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2004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/>
        </p:spPr>
      </p:sp>
      <p:sp>
        <p:nvSpPr>
          <p:cNvPr id="47" name="Shape 45"/>
          <p:cNvSpPr/>
          <p:nvPr/>
        </p:nvSpPr>
        <p:spPr>
          <a:xfrm>
            <a:off x="4937760" y="3200400"/>
            <a:ext cx="4572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8" name="Shape 46"/>
          <p:cNvSpPr/>
          <p:nvPr/>
        </p:nvSpPr>
        <p:spPr>
          <a:xfrm>
            <a:off x="5074920" y="3300984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507492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577840" y="3200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38160" y="32004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この教育の位置づけ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の更新頻度（CHANGELOG より）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914400"/>
          <a:ext cx="50292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914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A1F36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毎週 40〜60 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の変更がリリース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今日できないことも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明日はできるかもしれない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2025年3月〜4月の実績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2834640"/>
            <a:ext cx="8595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8346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今日のWSで覚えておいてほしいこと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00400"/>
            <a:ext cx="3657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教えられたことはいつまでも正しいわけではない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1188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ツールの進化速度が人間の学習速度を超えている。今日の制約は来週には解消されているかもしれない。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36576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「原理」を学び「操作」に固執しない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1188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具体的な操作手順はすぐ変わる。AIエージェントの原理（Agent = Model + Harness）を理解すれば変化に対応できる。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2920" y="3931920"/>
            <a:ext cx="36576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公式ドキュメントとChangelogが最新の教科書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118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WSの資料より公式が常に正しい。変更を追い続ける習慣が最大の武器になる。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エージェントと開発手法の変遷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10:00–10:40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エージェントとは？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39319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従来の AI ツール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人間が入力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463040"/>
            <a:ext cx="4572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12344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が応答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463040"/>
            <a:ext cx="4572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1回のやりとりで完結（ステートレス）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6400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640080"/>
            <a:ext cx="42062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エージェント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10515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1828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828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280160"/>
            <a:ext cx="155448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92440" y="1508760"/>
            <a:ext cx="914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35040" y="2057400"/>
            <a:ext cx="155448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5257800" y="1508760"/>
            <a:ext cx="914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  <a:headEnd type="triangle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08760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937760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自律的にループ（Goal-driven）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2743200"/>
            <a:ext cx="8595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74320" y="2743200"/>
            <a:ext cx="85953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= Model + Harness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48640" y="329184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A1F36"/>
          </a:solidFill>
          <a:ln/>
        </p:spPr>
      </p:sp>
      <p:sp>
        <p:nvSpPr>
          <p:cNvPr id="37" name="Text 34"/>
          <p:cNvSpPr/>
          <p:nvPr/>
        </p:nvSpPr>
        <p:spPr>
          <a:xfrm>
            <a:off x="548640" y="3291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（LLM の頭脳）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834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3291840" y="32918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40" name="Text 37"/>
          <p:cNvSpPr/>
          <p:nvPr/>
        </p:nvSpPr>
        <p:spPr>
          <a:xfrm>
            <a:off x="3291840" y="32918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Harness（CLAUDE.md + Skills + Hooks + Agents + MCP + 権限）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ハーネスの設計が品質の 80% を決める — 同じモデルでもハーネス次第で結果が変わる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Tool（ツール）— AI の「手」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単体では「考える」ことしかできない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ツールを与えることで、ファイルを読む・コードを書く・コマンドを実行する等の「行動」が可能になる。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エージェント = LLM（頭脳） + ツール（手足） + ハーネス（ルール）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39319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ツールなしの 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質問に答える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文章を生成する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翻訳する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テキストの入出力だけ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外の世界に触れない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ChatGPT の初期がこれ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4114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ツールを持った AI エージェント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ファイルを読み書き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コマンドを実行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を検索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に接続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現実世界に作用できる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自律的にタスクを遂行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Code がこれ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6517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が持つ主要ツール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ファイルを読む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0175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301752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257860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ファイルを書く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1752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ファイルを編集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30175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0" y="3017520"/>
            <a:ext cx="3657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728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コマンド実行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1188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ファイル検索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36118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68880" y="361188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2578608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テキスト検索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6118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611880"/>
            <a:ext cx="3657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0" y="36118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3611880"/>
            <a:ext cx="36576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6967728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3524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外部サービス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 = AI が世界に作用する手段。Hooks はツール実行の前後に品質ゲートを挟む仕組み。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Code：ターミナルで動く AI エージェント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自然言語で指示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914400"/>
            <a:ext cx="36576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5943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594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コード読解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5943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594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5943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594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097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テスト実行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097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操作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097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ファイル編集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1737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のハーネス構成要素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48840"/>
            <a:ext cx="4572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永続コンテキスト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21488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0" y="2148840"/>
            <a:ext cx="4572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知識パック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21488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214884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3484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自動品質ゲート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83464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定義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専門ロール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28346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0" y="2834640"/>
            <a:ext cx="4572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242316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2316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外部ツール連携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28346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97680" y="2834640"/>
            <a:ext cx="457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443484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Mode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3484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自動承認制御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1488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A1F36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人間が設計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が実行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仕組みが品質を担保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今日のWS：これらの構成要素を体験①②③で段階的に組み上げていく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「指示の技術」の進化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5603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777240"/>
            <a:ext cx="2560320" cy="594360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51560"/>
            <a:ext cx="25603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04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6276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292608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何を聞くか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プロンプトのテクニック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7772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777240"/>
            <a:ext cx="25603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Shape 14"/>
          <p:cNvSpPr/>
          <p:nvPr/>
        </p:nvSpPr>
        <p:spPr>
          <a:xfrm>
            <a:off x="3291840" y="777240"/>
            <a:ext cx="2560320" cy="594360"/>
          </a:xfrm>
          <a:prstGeom prst="roundRect">
            <a:avLst>
              <a:gd name="adj" fmla="val 23077"/>
            </a:avLst>
          </a:prstGeom>
          <a:solidFill>
            <a:srgbClr val="0EA5E9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804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251960" y="150876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627632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8328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566160" y="292608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EA5E9"/>
          </a:solidFill>
          <a:ln/>
        </p:spPr>
      </p:sp>
      <p:sp>
        <p:nvSpPr>
          <p:cNvPr id="24" name="Text 20"/>
          <p:cNvSpPr/>
          <p:nvPr/>
        </p:nvSpPr>
        <p:spPr>
          <a:xfrm>
            <a:off x="35661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何を見せるか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3832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CLAUDE.md・仕様書・RAG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17920" y="7772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17920" y="777240"/>
            <a:ext cx="25603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4"/>
          <p:cNvSpPr/>
          <p:nvPr/>
        </p:nvSpPr>
        <p:spPr>
          <a:xfrm>
            <a:off x="6217920" y="777240"/>
            <a:ext cx="2560320" cy="594360"/>
          </a:xfrm>
          <a:prstGeom prst="roundRect">
            <a:avLst>
              <a:gd name="adj" fmla="val 23077"/>
            </a:avLst>
          </a:prstGeom>
          <a:solidFill>
            <a:srgbClr val="8B5CF6"/>
          </a:solidFill>
          <a:ln/>
        </p:spPr>
      </p:sp>
      <p:sp>
        <p:nvSpPr>
          <p:cNvPr id="29" name="Shape 25"/>
          <p:cNvSpPr/>
          <p:nvPr/>
        </p:nvSpPr>
        <p:spPr>
          <a:xfrm>
            <a:off x="6217920" y="1051560"/>
            <a:ext cx="25603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6"/>
          <p:cNvSpPr/>
          <p:nvPr/>
        </p:nvSpPr>
        <p:spPr>
          <a:xfrm>
            <a:off x="6217920" y="804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7178040" y="150876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627632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492240" y="292608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35" name="Text 30"/>
          <p:cNvSpPr/>
          <p:nvPr/>
        </p:nvSpPr>
        <p:spPr>
          <a:xfrm>
            <a:off x="64922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どう動かすか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093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Hooks・テスト・権限制御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288036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38" name="Text 33"/>
          <p:cNvSpPr/>
          <p:nvPr/>
        </p:nvSpPr>
        <p:spPr>
          <a:xfrm>
            <a:off x="580644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39" name="Shape 34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0" name="Text 3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モデル性能↑ ほど「プロンプトの工夫」より「環境の設計」が成果を決める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駆動開発の進化：3つのステージ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697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「〇〇作って」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即興で実装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目視で確認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速いが品質は運次第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2860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200400" y="64008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640080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868680"/>
            <a:ext cx="269748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658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SDD（人間主導）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20440" y="178308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仕様を書く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20440" y="256032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タスク分割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20440" y="333756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1つずつ実装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品質↑ だが仕様作成が負荷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2860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126480" y="64008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640080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868680"/>
            <a:ext cx="26974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658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Coding × SDD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178308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「〇〇作って」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46520" y="256032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仕様+タスク+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テスト生成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333756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自律で実装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検証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の手軽さ × SDD の品質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= 「〇〇作って」だけで仕様もテストも AI が自律生成。Vibe の UX × SDD の品質。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体験① Vibe Coding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10:40–11:15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 とは？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54864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0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Andrej Karpathy が提唱（2025）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「コードを見ない。結果だけ見る。AI に任せてノリで作る。」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仕様書もテストも書かず、自然言語の指示だけでアプリを完成させるスタイル。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 の流れ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96596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「〇〇作って」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一言で指示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24028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1460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783080"/>
            <a:ext cx="19659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が即興で実装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コード生成＋実行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24028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488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78308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結果を見て追加指示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「色変えて」「機能追加」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240280"/>
            <a:ext cx="2743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9516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178308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繰り返し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2240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対話しながら育てる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260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強み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とにかく速い — 数分で動くものが出る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非エンジニアでも使える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アイデア検証・PoC に最適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プログラミング知識が不要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品質が運次第 — テストがない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大規模になると破綻しやすい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他人が引き継げない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 同じ指示で同じ結果にならない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 vs SDD：特性比較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54864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548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54864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初動の速さ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042416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1298448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0241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1280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719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品質の安定性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175564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2011680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7373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993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4323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246888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724912"/>
            <a:ext cx="329184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24505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270662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1455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要件の正確さ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318211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3438144"/>
            <a:ext cx="347472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316382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341985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858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チーム再現性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0" y="3895344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>
          <a:xfrm>
            <a:off x="2011680" y="4151376"/>
            <a:ext cx="329184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87705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41330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005840"/>
            <a:ext cx="45720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使い分けが鍵</a:t>
            </a:r>
            <a:endParaRPr lang="en-US" sz="16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55448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580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向き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92240" y="1874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PoC・スパイク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プロトタイプ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個人プロジェクト</a:t>
            </a:r>
            <a:endParaRPr lang="en-US" sz="10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0"/>
            <a:ext cx="274320" cy="2743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8580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向き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492240" y="3063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本番コード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チーム開発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長期運用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73152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73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体験①：Vibe で社内ツールを作ろう（30分）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8595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48640"/>
            <a:ext cx="54864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お題：「チームの日報アプリ」をフルスタックで作る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一言で始める → 追加指示を重ねる → 方向転換してみる → 限界を感じる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65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0〜5分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96596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「Next.js で日報アプリを作って。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名前と今日やったことを入力して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一覧表示できるようにして」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最初の一言だけで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フルスタックが動く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68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5〜15分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25880" y="246888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「見た目をもっときれいにして」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「日付で絞り込めるようにして」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「カテゴリ分けを追加して」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追加指示を重ねて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機能を育てる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71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15〜25分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25880" y="297180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「グラフで投稿数の推移を見せて」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「ダークモード対応して」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「チームメンバー別に表示して」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方向転換・大きな変更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を試してみる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25〜30分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25880" y="34747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17320" y="3474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振り返りメモを書く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・速さはどうだった？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・品質は？コードは読める？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・チームで使えそう？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困った点を言語化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体験②への伏線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023360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1A1F3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ポイント：コードは一切見なくてOK。結果だけ見て「次はこうして」と伝えるだけ。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体験② SDD（Context Eng.）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13:00–13:50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仕様駆動開発（SDD）とは？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コードを書く前に「何を作るか」を決める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仕様書（Markdown）でゴールを定義 → AI がその通りに実装 → 仕様と照合して検証。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の「行き当たりばったり」を、仕様というガードレールで制御する。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39319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「〇〇作って」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が即興で実装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結果を見て修正を繰り返す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4114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SDD（仕様駆動）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仕様書を書く（受入条件・機能一覧）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にルールを定義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が仕様通りに実装+テスト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SDD にすると何が変わるか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83280"/>
            <a:ext cx="36576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再現性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同じ仕様 → 同じ品質のコード。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チームの誰がやっても結果が揃う。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383280"/>
            <a:ext cx="36576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検証可能性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「仕様通りにできたか？」で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合否が判定できる。テスト = 仕様。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383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383280"/>
            <a:ext cx="36576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引き継ぎ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仕様書が残るので、他の人が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続きを開発できる。AI も人も。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プロジェクトの「長期記憶」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書くべき内容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TypeScript / Jest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261872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コーディング規約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命名規則・構造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609344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09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テスト実行コマンド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/ npm run lint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956816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禁止事項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1956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テスト書き換え禁止 etc.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5486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54864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つのスコープ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91440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91440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全プロジェクト共通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1353312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0EA5E9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1353312"/>
            <a:ext cx="3657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./CLAUDE.md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プロジェクト固有（Git共有）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179222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3480" y="1792224"/>
            <a:ext cx="36576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1792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./src/CLAUDE.md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モジュール別の規約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560320"/>
            <a:ext cx="8595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5603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コンテキストウィンドウを意識した設計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578608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1A1F36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コンテキストウィンドウ = AI が一度に読める情報量の上限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2971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2971800"/>
            <a:ext cx="45720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035808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短く保つ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9436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本体はルールの要約だけ。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長い説明文は別ファイルに分離。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291840" y="2971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291840" y="2971800"/>
            <a:ext cx="45720" cy="1188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035808"/>
            <a:ext cx="228600" cy="22860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370332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リンクで参照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342900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「詳細は docs/coding-rules.md を読め」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と書けば必要時だけ読み込まれる。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6126480" y="2971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6126480" y="2971800"/>
            <a:ext cx="45720" cy="1188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35808"/>
            <a:ext cx="228600" cy="22860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53796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階層で分割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626364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共通ルールは root、モジュール固有は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サブディレクトリの CLAUDE.md に分離。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タスク特化の知識パック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「PDF作って」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868680"/>
            <a:ext cx="4572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5943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594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が自動で判断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868680"/>
            <a:ext cx="4572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59436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594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を読込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3258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が必要な Skill を自動判断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6276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人間が指定しなくても、タスク内容から最適な Skill を選んで読み込む。description の記述が判断の鍵。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5953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03120"/>
            <a:ext cx="54864" cy="1920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段階的読込でコンテキストを節約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514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514600"/>
            <a:ext cx="36576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だけ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コンテキスト消費：小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926080"/>
            <a:ext cx="36576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37560" y="25146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2514600"/>
            <a:ext cx="36576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本体を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必要と判断した時だけ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2926080"/>
            <a:ext cx="36576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72200" y="25146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2514600"/>
            <a:ext cx="36576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/ templates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を実行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手順に沿って段階的に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常時全文読込 ／ Skills = 段階的に必要な分だけ読込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SKILL.md の書き方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3840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の 2 部構成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960120"/>
            <a:ext cx="36576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00584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 Matter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280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explain-code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コードを図と例え話で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説明する。"how does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work?" と聞かれた時。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468880"/>
            <a:ext cx="36576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51460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14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本文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コードを説明する時は必ず：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日常の例えで比喩する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ASCII 図で構造を描く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ステップごとに解説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よくある落とし穴を警告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難しい概念は複数の比喩を使う。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5486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54864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ディレクトリ構造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914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my-skill/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SKILL.md       ← 必須（エントリポイント）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scripts/       ← 補助スクリプト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validate.sh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references/    ← 参照ドキュメント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schema.md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assets/        ← テンプレート等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6032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配置場所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97180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297180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個人用（全プロジェクト共通）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338328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0EA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3383280"/>
            <a:ext cx="3657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プロジェクト用（Git で共有）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79476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3794760"/>
            <a:ext cx="36576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の skills/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プラグイン経由で配布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YAML Front Matter と確実な呼び出し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54864" cy="3474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Front Matter のプロパティ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960120"/>
            <a:ext cx="36576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143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名（省略時はディレクトリ名）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99032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399032"/>
            <a:ext cx="36576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99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417320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41732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15819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が使うか判断する材料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837944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1837944"/>
            <a:ext cx="36576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837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allowed-tools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0208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許可確認なしで使えるツール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276856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276856"/>
            <a:ext cx="36576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2768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disable-model-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4597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自動呼出しを無効化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71576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715768"/>
            <a:ext cx="36576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715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2898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使用モデルの指定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315468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154680"/>
            <a:ext cx="36576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154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等のコンテキスト制御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59436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59436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確実に呼び出されるために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83480" y="100584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1005840"/>
            <a:ext cx="3657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1024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が最重要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1234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はこの文だけで「使うべきか」を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判断。What + When + Capabilities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 3 要素を必ず含める。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178308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1783080"/>
            <a:ext cx="36576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1801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トリガーワードを列挙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「.docx を作成する時」「Word 文書」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「レポート生成」など、ユーザーが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使いそうな表現を網羅的に記載。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256032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2560320"/>
            <a:ext cx="36576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25786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NOT条件も書く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20640" y="2788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「PDF には使わない」「スプレッド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シートは対象外」で誤発火を防止。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83480" y="333756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983480" y="3337560"/>
            <a:ext cx="36576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3355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三人称で書く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566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「This skill should be used when...」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と書く。一人称・二人称は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発見精度を下げる（公式推奨）。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定義 — 専門ロールのサブエージェント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と Agents の違い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Agents（サブエージェント）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コンテキスト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メイン会話に注入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（インライン実行）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独立したコンテキストウィンドウ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で実行（フォーク）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実行結果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メインの文脈に残る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要約だけ返す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（メインを汚さない）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ツール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メインと同じ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制限可能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（Read only 等）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モデル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メインと同じ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別モデル指定可能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（Haiku でコスト削減）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手順書・知識の注入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タスクの委譲・並行処理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2461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主要な Front Matter プロパティ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3520440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description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9659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必須。AI が委譲先を判断する材料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74320" y="3840480"/>
            <a:ext cx="36576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disallowedTools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使えるツールを制限（Read only 等）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74320" y="4160520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659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/ sonnet / opus / inherit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480560" y="3520440"/>
            <a:ext cx="36576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permissionMode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722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acceptEdits / auto / bypassPermissions 等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480560" y="3840480"/>
            <a:ext cx="36576" cy="274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maxTurns / skills / hooks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ターン制限、Skills 事前読込、専用 Hooks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— コンテキスト管理と活用パターン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コンテキスト分離のしくみ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あなたの会話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仕様・指示・履歴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88920" y="1325880"/>
            <a:ext cx="548640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34640" y="1097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委譲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0" y="9144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960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のコンテキスト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専用システムプロンプト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独自ツール・モデル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1645920"/>
            <a:ext cx="548640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283464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要約だけ返す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914400"/>
            <a:ext cx="36576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960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メリット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メインの文脈を汚さない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探索結果やログは破棄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コスト削減（Haiku 活用）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並行実行が可能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514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組込みエージェント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88920"/>
            <a:ext cx="13258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/ Read-only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コードベース探索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73736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737360" y="2788920"/>
            <a:ext cx="13258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78308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/ Read-only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プラン策定用リサーチ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788920"/>
            <a:ext cx="1325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/ 全ツール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汎用タスク実行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0" y="2514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カスタム例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788920"/>
            <a:ext cx="1325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/ Sonnet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コードレビュー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21792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788920"/>
            <a:ext cx="13258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/ Sonnet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テスト実行・検証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680960" y="27889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80960" y="2788920"/>
            <a:ext cx="1325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7726680" y="2852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6680" y="3108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全ツール / Sonnet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エラー分析・修正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知識を注入 / Agents = タスクを委譲。メインの文脈を守りながら専門家に任せる。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AI の行動範囲を拡張するプラグイン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9436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0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640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エージェントと外部サービスを接続する標準プロトコル。USB のように「繋げば使える」統一規格。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737360"/>
            <a:ext cx="548640" cy="914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141732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17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3258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3258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3258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3258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3258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82880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8288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8288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182880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8288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1600200"/>
            <a:ext cx="5486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40480" y="1920240"/>
            <a:ext cx="5486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74320" y="2423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の活用パターン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→ PR 自動化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2788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で Issue を読み、仕様化→実装→PR 作成まで自律実行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 → コード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2004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MCP でチャンネルの要件議論を参照し、仕様に反映して実装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マイグレーション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0" y="36118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MCP でスキーマを読み取り、変更のマイグレーションを自動生成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公式・コミュニティの MCP サーバーが多数公開。自作せず既存を活用するのが基本。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SDD の回し方：ウォーターフォール vs アジャイル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2286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ウォーターフォール × SDD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全仕様を先に確定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5819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764792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64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全タスクを計画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1122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95144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95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全実装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64261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25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全テスト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1729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5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リリース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一方向 / 大きなバッチ / 手戻りコスト大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64008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6400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868680"/>
            <a:ext cx="41148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658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アジャイル × SDD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123444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3480" y="1234440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12344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137160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3716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01968" y="1417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137160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13716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70648" y="1417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137160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3716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フィードバック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83480" y="210312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2103120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21031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224028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22402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01968" y="22860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12280" y="224028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6812280" y="22402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70648" y="22860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80960" y="224028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22402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665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フィードバック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983480" y="297180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3480" y="2971800"/>
            <a:ext cx="3657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5074920" y="29718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43600" y="310896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0" y="31089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01968" y="3154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12280" y="310896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31089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70648" y="3154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680960" y="3108960"/>
            <a:ext cx="68580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680960" y="31089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3776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反復 / 小さなバッチ / 学習しながら進化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402336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1A1F36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どちらが優れているではなく、プロジェクト特性で選ぶ。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× SDD はどちらのプロセスにも適用可能。AI が仕様を書く速度がボトルネックを解消する。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体験②：仕様駆動で同じアプリを作る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75895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58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仕様書を Markdown で書く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機能一覧・受入条件を定義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を作成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965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規約 + 「テスト失敗→コード修正」を明記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679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1タスクずつ実装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535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「機能①だけ実装して。テストも」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振り返りメモ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9410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との違いを速度・品質・コントロールで比較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体験③ Agentic Coding × SDD（Harness Eng.）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Coding × SDD：AI が自律的に回すサイクル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64008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640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👤「〇〇の機能を実装して」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8595360" cy="2468880"/>
          </a:xfrm>
          <a:prstGeom prst="roundRect">
            <a:avLst>
              <a:gd name="adj" fmla="val 5556"/>
            </a:avLst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554480"/>
            <a:ext cx="85953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が自律で実行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21488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仕様書を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自動生成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受入条件・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ユーザーストーリー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06040" y="20116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2011680"/>
            <a:ext cx="182880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14884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9748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タスクリスト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を分割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バックログ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01168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0680" y="2148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テストを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先に書く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を先に作る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03720" y="201168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201168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7589520" y="2148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実装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自動検証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になるまで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ループ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97680" y="3794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286000" y="41148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A1F36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人間はレビュー &amp; 承認だけ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Agenticの中核：SDD + TDD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73152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19202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仕様を書く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受入条件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ユーザーストーリー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108960" y="731520"/>
            <a:ext cx="731520" cy="7315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6032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645920"/>
            <a:ext cx="192024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タスク分割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がバックログ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を自動生成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303520" y="73152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4592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1つずつ実装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とペアプロ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仕様がガードレール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98080" y="73152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949440" y="1645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0" y="164592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494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仕様で検証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テスト≠書き換え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TDD:「テストを先に書く」＝ SDD:「仕様を先に書く」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決定論的な品質ゲート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がツールを使うタイミングで自動実行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実行前に検証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危険な操作をブロック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7315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914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560320" cy="45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ツール実行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ファイル編集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コマンド実行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7315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914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91440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実行後に検証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Lint・テスト自動実行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8600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SessionStart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2331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セッション開始時にプロジェクト情報・ルールを注入。Context Engineering を自動化。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設定例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PostToolUse（Write）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lint &amp;&amp; npm test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3429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ファイル変更後に Lint + テスト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40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PreToolUse（Bash）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をブロック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3840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危険コマンドの実行防止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全イベント一覧と 3 つの 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3840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21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621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 SessionEnd  PreCompact  PostCompact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77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ツール実行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877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 PostToolUse  PostToolUseFailure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2920" y="1097280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133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権限・入力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1133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PermissionRequest  PermissionDenied  UserPromptSubmit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1353312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389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1389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  SubagentStop  TaskCreated  TaskCompleted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" y="1609344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645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チーム・環境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1645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TeammateIdle  Notification  ConfigChange  CwdChanged  FileChanged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1865376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01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1901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 StopFailure  InstructionsLoaded  WorktreeCreate/Remove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2920" y="2121408"/>
            <a:ext cx="457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主要イベントの役割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514600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514600"/>
            <a:ext cx="36576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600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が応答完了時に発火。タスク完了チェックに使う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" y="2862072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862072"/>
            <a:ext cx="36576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862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0" y="2862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ユーザー入力送信時。プロンプトの検証・書き換え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3209544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209544"/>
            <a:ext cx="36576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209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SubagentStart/Stop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0" y="32095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サブエージェントの生成・完了を監視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2920" y="3557016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3557016"/>
            <a:ext cx="36576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557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86000" y="35570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が入力待ちの時。デスクトップ通知に使う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3904488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3904488"/>
            <a:ext cx="36576" cy="29260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904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FileChanged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286000" y="3904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ファイル変更を監視。環境リロードに使う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577840" y="5486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548640"/>
            <a:ext cx="54864" cy="3840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621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つの Hook タイプ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60720" y="9601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49" name="Shape 47"/>
          <p:cNvSpPr/>
          <p:nvPr/>
        </p:nvSpPr>
        <p:spPr>
          <a:xfrm>
            <a:off x="5760720" y="960120"/>
            <a:ext cx="36576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5897880" y="1005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"command"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12161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シェルコマンドを実行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決定論的・高速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97880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npm run lint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760720" y="196596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/>
        </p:spPr>
      </p:sp>
      <p:sp>
        <p:nvSpPr>
          <p:cNvPr id="54" name="Shape 52"/>
          <p:cNvSpPr/>
          <p:nvPr/>
        </p:nvSpPr>
        <p:spPr>
          <a:xfrm>
            <a:off x="5760720" y="1965960"/>
            <a:ext cx="36576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5" name="Text 53"/>
          <p:cNvSpPr/>
          <p:nvPr/>
        </p:nvSpPr>
        <p:spPr>
          <a:xfrm>
            <a:off x="589788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"prompt"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2221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モデルに判断を委ねる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（デフォルト: Haiku）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ok: true/false で応答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97880" y="2834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タスク完了チェック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760720" y="315468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</p:sp>
      <p:sp>
        <p:nvSpPr>
          <p:cNvPr id="59" name="Shape 57"/>
          <p:cNvSpPr/>
          <p:nvPr/>
        </p:nvSpPr>
        <p:spPr>
          <a:xfrm>
            <a:off x="5760720" y="3154680"/>
            <a:ext cx="36576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897880" y="3200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"agent"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89788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サブエージェントを生成し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Read/Grep 等でコードベースを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検証してから判断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897880" y="4023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実装の整合性検証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76072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= 確実に実行 / prompt = AI に判断委譲 / agent = コード検証付き判断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体験③：体験②のアプリに Harness を組み込む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822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758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Hooks を設定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で Lint / テスト自動実行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Agents 定義を作成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 にレビュワー・テスター等の専門ロールを配置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23160"/>
            <a:ext cx="54864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サブエージェントに委譲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メインエージェントから専門ロールにタスクを委譲して並行開発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体験②（Context Eng.）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体験③（Harness Eng.）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03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人間が指示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が1つずつ実装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人間が確認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3840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人間が指示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Hooks が品質ゲート自動実行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サブエージェントが並行作業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体験③：チームで Harness を組む（60分）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7589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58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チーム結成 &amp; 課題選択（5分）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3〜4人チーム。体験②で作ったアプリまたは新しい課題を選ぶ。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設定（15分）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965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で Lint / テスト自動実行を設定。settings.json に記述。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679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定義 &amp; 委譲（25分）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535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 にレビュワー・テスターを作成。サブエージェントにタスクを委譲して開発。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成果発表（15分）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94106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有無でどう変わったか？自動化できた品質ゲート、サブエージェントの効果を共有。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ふりかえり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15:15–15:45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3つの体験 × 3つのパラダイム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パラダイム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今日の体験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40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人間の役割の変化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DF2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2344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051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自然言語で直接指示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051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人間が全てを操作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286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SDD（仕様駆動）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仕様書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仕様で AI をガイド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3375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154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+ Agents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154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自動テスト・委譲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154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仕組みが品質を担保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体験①→②→③ = 人間の役割が「操作する人」→「設計する人」→「監督する人」へ進化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エージェントアーキテクチャ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15:55–16:30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エージェントの構成要素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永続コンテキスト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技術スタック・規約を常時注入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73152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73152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601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66928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再利用可能な知識パック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手順書をオンデマンド読込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743200"/>
            <a:ext cx="54864" cy="17373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371600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実行前後の自動ゲート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Lint・テスト・セキュリティ自動実行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74320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定義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5669280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再利用可能な専門ロール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 にMarkdownで配置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オーケストレーションの 3 パターン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48640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48640"/>
            <a:ext cx="2788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0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Hub-and-Spoke（並行）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868680" cy="548640"/>
          </a:xfrm>
          <a:prstGeom prst="ellipse">
            <a:avLst/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3716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65836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8755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65960" y="987552"/>
            <a:ext cx="65836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98755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65836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65960" y="1965960"/>
            <a:ext cx="65836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78408" y="1371600"/>
            <a:ext cx="73152" cy="914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1234440"/>
            <a:ext cx="914" cy="13716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1234440"/>
            <a:ext cx="914" cy="13716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960120" y="1920240"/>
            <a:ext cx="914" cy="13716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11680" y="1920240"/>
            <a:ext cx="914" cy="13716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" y="1234440"/>
            <a:ext cx="914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94560" y="1234440"/>
            <a:ext cx="914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" y="1920240"/>
            <a:ext cx="914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2194560" y="1920240"/>
            <a:ext cx="914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274320" y="2423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 委譲  ┅ 報告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2606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同時に委譲・報告は親のみ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548640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548640"/>
            <a:ext cx="2788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640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リレー / チェーン（順次）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100584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1005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仕様生成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280160"/>
            <a:ext cx="914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520440" y="141732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1417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テスト作成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1691640"/>
            <a:ext cx="914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20440" y="182880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1828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2103120"/>
            <a:ext cx="914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20440" y="2240280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2240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前の出力が次の入力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サイクルと相性◎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54864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548640"/>
            <a:ext cx="2743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640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Agent Teams（協調）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95160" y="960120"/>
            <a:ext cx="91440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6995160" y="960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1325880"/>
            <a:ext cx="914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92240" y="146304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共有タスクリスト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0840" y="1737360"/>
            <a:ext cx="914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498080" y="1737360"/>
            <a:ext cx="914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275320" y="1737360"/>
            <a:ext cx="914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400800" y="1901952"/>
            <a:ext cx="640080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1901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78040" y="1901952"/>
            <a:ext cx="640080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7178040" y="1901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55280" y="1901952"/>
            <a:ext cx="640080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7955280" y="1901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40880" y="2084832"/>
            <a:ext cx="137160" cy="91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triangl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818120" y="2084832"/>
            <a:ext cx="137160" cy="91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triangle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相互メッセージ可能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チーム間で直接調整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82880" y="315468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64" name="Text 62"/>
          <p:cNvSpPr/>
          <p:nvPr/>
        </p:nvSpPr>
        <p:spPr>
          <a:xfrm>
            <a:off x="182880" y="3154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独立タスクを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同時に処理したい時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0" y="315468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0" y="3154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のように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段階的に品質を積む時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315468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/>
        </p:spPr>
      </p:sp>
      <p:sp>
        <p:nvSpPr>
          <p:cNvPr id="68" name="Text 66"/>
          <p:cNvSpPr/>
          <p:nvPr/>
        </p:nvSpPr>
        <p:spPr>
          <a:xfrm>
            <a:off x="6217920" y="3154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クロスレイヤーで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相互調整が必要な時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82880" y="3840480"/>
            <a:ext cx="8778240" cy="34747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38404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Tier1: 組込み（サブ/Teams）  →  Tier2: 外部オーケストレータ  →  Tier3: クラウド（非同期PR）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オーケストレーション：パターン選択ガイド</a:t>
            </a:r>
            <a:endParaRPr lang="en-US" sz="2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04872"/>
                <a:gridCol w="2404872"/>
                <a:gridCol w="24048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Hub-and-Spoke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リレー / チェーン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Agent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構造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1つの親が複数の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子に並行委譲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前の出力が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次の入力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が計画、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メンバーが自律実行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メリット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速い（並行実行）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互いに独立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スケールしやすい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品質が段階的に積上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各ステップで検証可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順序が明確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相互調整が可能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大規模タスク向き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柔軟な役割分担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デメリット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タスク間の依存に弱い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結果の統合が必要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親がボトルネック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直列なので遅い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前段の失敗が全体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に波及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設計が複雑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コストが高い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デバッグが難しい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向いている場面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リファクタリング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テスト並行実行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独立した調査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サイクル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パイプライン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ドキュメント生成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フルスタック開発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FE+BE+DB 連携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設計レビュー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での実現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サブエージェント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/batch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の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チェーン実行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(claude --team)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657600"/>
            <a:ext cx="8595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6576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選び方の判断基準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9502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タスクは独立？ → Hub-and-Spoke   ／   順序に依存？ → リレー   ／   相互調整が必要？ → Agent Teams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迷ったらまず Hub-and-Spoke。最もシンプルで、多くのケースで十分。複雑さは必要になってから足す。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応用編：ハーネス設計の実践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高スキル層向け ｜ 選抜受講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開発と組織展開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自己学習ループの設計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Generate → Evaluate パターン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開発と組織展開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= Skills + Agents + Hooks + MCP をパッケージ化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組織のベストプラクティスを1つのパッケージにまとめ、チーム全体にインストール可能な形で配布する。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54864" cy="2286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のディレクトリ構造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my-plugin/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.claude-plugin/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plugin.json      ← メタデータ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skills/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deploy/SKILL.md  ← 共有 Skill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review/SKILL.md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reviewer.md      ← 共有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hooks/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hooks.json       ← 共有 Hooks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組織への展開フロー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178308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1783080"/>
            <a:ext cx="3657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783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開発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個人で Plugin を作成・テスト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2221992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983480" y="2221992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221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公開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221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リポジトリに push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266090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2660904"/>
            <a:ext cx="36576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609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インストール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660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plugin add &lt;repo&gt;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3099816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3480" y="3099816"/>
            <a:ext cx="36576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0998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運用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plugin update で全員に配信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全員がゼロから作らない。組織のハーネスを Plugin として標準化する。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自己学習ループの設計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が失敗から学び、次のサイクルに改善を反映する仕組み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でレビュー → 問題点を CLAUDE.md / Memory に書き戻し → 次回セッションで自動適用。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10058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13258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325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 / 検証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1645920"/>
            <a:ext cx="10058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13258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325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（Stop Hook）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1965960"/>
            <a:ext cx="914" cy="27432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2286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学習結果を記録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2514600"/>
            <a:ext cx="5166360" cy="914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1508760" y="1965960"/>
            <a:ext cx="914" cy="54864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head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次のサイクルへ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学習の記録先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74720"/>
            <a:ext cx="36576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プロジェクトルールに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フィードバックを追記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4747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4747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Memory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知見を蓄積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4747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474720"/>
            <a:ext cx="36576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更新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失敗パターンを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に反映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→ Generate → Evaluate ループ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高い目標設定 × 繰り返しループで品質を引き上げる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で厳しい基準を設定 → 基準を満たすまで Plan→Generate を繰り返す。ループ上限で暴走防止。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要件を分析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改善方針を策定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7315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3716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デザイン実装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920240"/>
            <a:ext cx="73152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3716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品質基準で採点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合格/不合格を判定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468880"/>
            <a:ext cx="914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0" y="2788920"/>
            <a:ext cx="566928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2788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不合格 → Plan に戻る（最大 N 回）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00200" y="2999232"/>
            <a:ext cx="685800" cy="914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600200" y="2468880"/>
            <a:ext cx="914" cy="530352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ループ設計のポイント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36576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目標を高く設定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40050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の採点基準を厳しくする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ほど、ループが多く回り品質が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上がる。80点 vs 95点で結果が変わる。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703320"/>
            <a:ext cx="36576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ループ上限を決める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0128" y="40050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maxTurns や回数カウントで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無限ループを防止。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「5回で打ち切り → 人間に相談」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703320"/>
            <a:ext cx="36576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差分だけ修正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36208" y="40050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全体を再生成せず、Evaluate 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指摘された箇所だけを修正。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コスト効率 × 品質の両立。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73152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73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体験④：人気 Plugin の仕組みを再実装する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8595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02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お題：Superpowers の「TDD 強制」を Skills + Hooks で再現する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8412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143K スターの人気 Plugin の核心機能「テストを書く前にコードを書いたら自動ブロック」を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自分の手で SKILL.md + settings.json だけで実装する。外部ライブラリ不要。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19659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5544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(10分)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を書く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tdd-guard/SKILL.md を作成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tdd-guard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テスト未作成の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コードをブロックする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14630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46304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15544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(10分)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を設定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23317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PreToolUse(Write) 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対象ファイルにテストが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存在するか検証する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シェルスクリプトを作成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46304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15544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(10分)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動作確認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3317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テストなしで実装を試みる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Hook がブロック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テスト作成後に再実行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成功を確認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14630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46304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15544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(10分)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3317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.claude-plugin/ を追加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plugin.json を作成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チームメンバーに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インストールしてもらう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1F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この体験で身につくこと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の設計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でトリガー条件を制御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6032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の実装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で品質ゲートを挿入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化の手順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チーム配布可能なパッケージ作成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0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原理の理解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143K スター Plugin も Skills+Hooks の組合せ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流出コードから学ぶ CLAUDE.md 設計術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669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内部の MEMORY.md は「データではなくポインタ」「1行150文字以下」「自分の記憶をヒントとして扱う」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この設計原則を CLAUDE.md に応用すると、エージェントの品質が劇的に変わる。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2697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ポインタ型 CLAUDE.md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645920"/>
            <a:ext cx="36576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流出コードの設計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データではなく場所を格納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応用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880360"/>
            <a:ext cx="36576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への応用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06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に長い規約を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書かない。代わりに：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「詳細は docs/api-rules.md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を参照」とポインタを書く。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必要な時だけ読み込まれ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コンテキストを節約。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12344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23444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懐疑的メモリの応用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16459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1645920"/>
            <a:ext cx="36576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流出コードの設計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記憶は「ヒント」であり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「事実」ではない。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必ずコードベースで検証。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0" y="2651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応用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91840" y="288036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2880360"/>
            <a:ext cx="36576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への応用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83280" y="30906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に書くこと：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「この文書の情報は古い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可能性がある。実装前に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必ず現在のコードと照合し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矛盾があればコードを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正として CLAUDE.md 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更新すること。」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26480" y="12344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234440"/>
            <a:ext cx="2697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autoDream の再現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64592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1645920"/>
            <a:ext cx="36576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流出コードの設計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09360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autoDream: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セッション終了時に記憶を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統合・矛盾解消・更新。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フォークした子で実行。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17920" y="2651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応用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288036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8B5C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2880360"/>
            <a:ext cx="36576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への応用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09360" y="309067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で実装：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セッション終了時に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「今日学んだことを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の末尾に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追記して」と自動実行。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次回セッションで反映。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自身が実践する設計を CLAUDE.md に取り入れる = ハーネスの質を底上げする。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最新機能（2026年3-4月）</a:t>
            </a:r>
            <a:endParaRPr lang="en-US" sz="2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4206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活用シーン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3月上旬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複数エージェントのチーム協調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FE/BE/Test を並行開発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3月中旬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Use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画面操作（クリック・入力）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ブラウザテスト自動化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3月中旬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/loop コマンド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定期実行プロンプト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デプロイ監視・定期チェック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3月下旬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トークンコンテキスト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4.6 / Sonnet 4.6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大規模コードベース全体把握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3月下旬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 拡張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PermissionDenied / FileChanged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自動復旧・環境変化検知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4月上旬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ツール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バックグラウンドイベント監視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長時間タスクの進捗追跡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4月上旬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サブプロセスサンドボックス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namespace 分離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エンタープライズセキュリティ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毎週アップデート。公式 Changelog を定期チェックする習慣が最大の武器。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注目のフレームワーク &amp; Plugin（2026年4月時点）</a:t>
            </a:r>
            <a:endParaRPr lang="en-US" sz="2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347472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スター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核心コンセプト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学べること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Superpowers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7フェーズ SDD + TDD 強制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開発プロセスの制約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28エージェント + 自己学習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ハーネス性能最適化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AutoResearch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(Karpathy)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修正→実験→計測→保持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PGE ループの実装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gstack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(Garry Tan)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23ロール別コマンド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意思決定の視点分離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oh-my-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claudecode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チーム優先マルチエージェント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オーケストレーション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65760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65760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共通する設計思想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 Skills + Hooks + Agents の組合せで実現されている。特別な魔法はない。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 WS で学んだ原理を理解していれば、どのフレームワークも読み解ける。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補足：指示の優先順位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複数の場所に書かれた指示が矛盾した場合、どちらが勝つか？ 優先順位を理解しておく。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つの軸がある：① 制約の強制力（System Prompt は絶対）  ② CLAUDE.md 同士はスコープが狭い方が優先。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強制力（上書き不可）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Prompt（内蔵）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がハードコード。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変更不可。安全性・基本動作。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55557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65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管理者が設定。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組織全体の制約（上書き不可）。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CLAUDE.md スコープ（狭い方が優先）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511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6946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~/.claude/CLAUDE.md（グローバル）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全プロジェクト共通の好み。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9008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./CLAUDE.md（プロジェクト）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1455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チーム共有（Git管理）。グローバルより優先。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3392424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10712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./src/CLAUDE.md（サブディレクトリ）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5661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モジュール固有。最も優先度が高い。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" y="23317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狭い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優先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0" y="1188720"/>
            <a:ext cx="42976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18872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その他の指示ソースと読込タイミング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554480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0600" y="1554480"/>
            <a:ext cx="36576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15544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定義（.md）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15544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サブエージェント生成時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98080" y="15544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そのエージェントの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コンテキストのみ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00600" y="2176272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0EA5E9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2176272"/>
            <a:ext cx="36576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1762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Skill（SKILL.md）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0" y="217627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が必要と判断 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 /invoke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98080" y="21762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読み込まれた時だけ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会話に注入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00600" y="2798064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4800600" y="2798064"/>
            <a:ext cx="36576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7980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Rules（.claude/rules/）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9360" y="279806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セッション開始時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（パス指定時はファイル操作時）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498080" y="27980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と同レベル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だがファイル分割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3419856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EC4899"/>
          </a:solidFill>
          <a:ln/>
        </p:spPr>
      </p:sp>
      <p:sp>
        <p:nvSpPr>
          <p:cNvPr id="47" name="Shape 45"/>
          <p:cNvSpPr/>
          <p:nvPr/>
        </p:nvSpPr>
        <p:spPr>
          <a:xfrm>
            <a:off x="4800600" y="3419856"/>
            <a:ext cx="36576" cy="5303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34198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ユーザーのプロンプト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09360" y="341985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毎ターン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498080" y="34198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最も即時的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一度きりの指示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設計のコツ：CLAUDE.md は「常に効く」、Skills は「必要な時だけ効く」、Hooks は「確実に効く」。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矛盾を避けるために、同じルールを複数の場所に書かない。1箇所で管理し、他はポインタで参照。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補足：サブエージェントに渡されるコンテキスト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0292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例：メインエージェントが testAgent にテスト作成を委譲。testAgent は test-generator スキルを使用。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3840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メインエージェント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Prompt（内蔵）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CLAUDE.md（全スコープ）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キャッシュ境界 ──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会話履歴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474720" cy="292608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User:「LoginForm のテスト作って」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AgentTool({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subagent_type: "test-agent",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model: "sonnet",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prompt: "LoginForm のテストを作成"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14800" y="3630168"/>
            <a:ext cx="548640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097280"/>
            <a:ext cx="40233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testAgent（サブエージェント）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1508760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508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Prompt（親と同一→キャッシュ）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75320" y="156362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15636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課金なし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029200" y="1947672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947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CLAUDE.md（親と同一→キャッシュ）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275320" y="2002536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20025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課金なし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029200" y="2386584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386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定義（test-agent.md）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275320" y="244144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275320" y="24414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029200" y="2825496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8254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本文（test-generator）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275320" y="288036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28803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029200" y="3264408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264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委譲プロンプト（= What to do）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275320" y="331927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275320" y="33192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5029200" y="379476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 → 出力の要約だけを親に返す（作業コンテキストは返さない）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型：親コンテキストをバイト同一コピー → キャッシュヒット → 5 体フォークしても 1 体とほぼ同コスト。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補足：ハーネス強制 vs LLM 判断 — 本当の優先順位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指示には「物理的に不可能」な制約と「お願い」レベルの指示がある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はどんな指示も無視できる。本当に守らせたいルールはハーネスで強制する。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ハーネス強制（LLM が覆せない）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37360"/>
            <a:ext cx="36576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安全性制約は絶対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48840"/>
            <a:ext cx="36576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の tools 制限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2148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定義にないツールは呼べない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560320"/>
            <a:ext cx="36576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Hooks（command 型）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でブロック → 物理的に実行不可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971800"/>
            <a:ext cx="36576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許可モード・モデル選択はコードが決定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4114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32588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判断（無視される可能性あり）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17373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173736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「テストを書け」→ 書かないこともある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214884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937760" y="214884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本文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2148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手順を示すが、従うかは LLM 次第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56032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7760" y="256032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定義ペルソナ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「TDD 主義」→ 破ることもある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297180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4937760" y="2971800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5074920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Hooks（prompt 型）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に判断を委ねる → 無視される可能性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703320"/>
            <a:ext cx="8595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70332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749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具体例：「test-generator のスキルを使わずにテストを書いて」と委譲した場合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本文はコンテキストに読み込み済みだが、委譲プロンプト（最後に読まれる指示）が「使うな」と明示。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は最も直近の明示的な指示を優先するため、Skill の手順は無視される可能性が非常に高い。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本当に Skill を使わせたいなら、委譲プロンプトと矛盾させないこと。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本当に守らせたいルールなら、Hook（command 型）でハーネスレベルで強制すること。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補足：Anthropic 公式のエージェントパターン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0292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303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出典："Building Effective Agents" — 複雑さは成果を改善する場合にのみ追加する。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最も洗練されたシステムではなく、正しいシステムを作ること。まず単一 LLM → 不十分なら段階的に複雑にする。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627632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627632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143000"/>
            <a:ext cx="45720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18745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連鎖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" y="2084832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21031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前の出力が次の入力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651760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47472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仕様→設計→実装→レビュー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29968" y="1051560"/>
            <a:ext cx="1627632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9968" y="1051560"/>
            <a:ext cx="162763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2578608" y="1143000"/>
            <a:ext cx="45720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75688" y="1572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75688" y="18745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分岐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103120" y="2084832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21031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入力を分類し専門へ振分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03120" y="2651760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103120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簡単→Haiku/難→Opus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785616" y="1051560"/>
            <a:ext cx="1627632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85616" y="1051560"/>
            <a:ext cx="162763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4334256" y="1143000"/>
            <a:ext cx="45720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334256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31336" y="1572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Parallel-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ization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31336" y="18745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858768" y="2084832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904488" y="21031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独立タスクを同時実行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58768" y="2651760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858768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テスト+Lint+型チェック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41264" y="1051560"/>
            <a:ext cx="1627632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41264" y="1051560"/>
            <a:ext cx="1627632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089904" y="1143000"/>
            <a:ext cx="45720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6089904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86984" y="1572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-Workers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86984" y="18745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指揮者と作業者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614416" y="2084832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5660136" y="21031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中央が動的に分割・委譲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14416" y="2651760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614416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複数ファイル変更・検索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296912" y="1051560"/>
            <a:ext cx="1627632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96912" y="1051560"/>
            <a:ext cx="1627632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Shape 48"/>
          <p:cNvSpPr/>
          <p:nvPr/>
        </p:nvSpPr>
        <p:spPr>
          <a:xfrm>
            <a:off x="7845552" y="1143000"/>
            <a:ext cx="45720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7845552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42632" y="15727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-Optimizer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42632" y="18745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評価と最適化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370064" y="2084832"/>
            <a:ext cx="1481328" cy="502920"/>
          </a:xfrm>
          <a:prstGeom prst="roundRect">
            <a:avLst>
              <a:gd name="adj" fmla="val 7273"/>
            </a:avLst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7415784" y="21031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生成→評価→改善ループ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70064" y="2651760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370064" y="27889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翻訳・コード品質向上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74320" y="3703320"/>
            <a:ext cx="8595360" cy="9601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での対応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→ Skills のチェーン実行 ／ Routing → Agent 定義の model 指定（Haiku / Sonnet / Opus）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→ /batch + fork 型サブエージェント ／ Orchestrator-Workers → Agent Teams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→ PGE ループ（応用編で解説済み）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原則：① シンプルに保つ  ② 計画過程を透明にする  ③ ツールの IF を丁寧に設計する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補足：Claude Code のマルチエージェント実装比較</a:t>
            </a:r>
            <a:endParaRPr lang="en-US" sz="1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04872"/>
                <a:gridCol w="2404872"/>
                <a:gridCol w="24048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Agents（API）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構造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メインセッション内で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して実行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独立プロセス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tmux ペインで起動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クラウド上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コンテナで実行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通信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親に結果を返すのみ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（一方向）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ファイルベースの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メールボックスで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相互メッセージ可能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 ストリーム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通知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コンテキスト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親と共有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（キャッシュヒット）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完全に独立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（各自のウィンドウ）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独立コンテナ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（サンドボックス）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低い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（fork でキャッシュ共有）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高い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（各自フルコンテキスト）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$0.08/時間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トークン費用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向いている場面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短い調査・検証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コンテキスト節約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FE/BE/Test 並行開発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クロスレイヤー調整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長時間の自律タスク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CI/CD・PR レビュー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46120"/>
            <a:ext cx="8595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24612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選び方の判断フロー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566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エージェント同士が会話する必要がある？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06240" y="353872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Subagent（最もシンプル。まずここから）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06240" y="3694176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Agent Teams（チームメイト間で直接メッセージ可能）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人間が離席しても動き続けてほしい？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06240" y="395020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Managed Agents（クラウドで自律実行）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4206240"/>
            <a:ext cx="804672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コスト最適化：Haiku でサブタスク + Opus で複雑な推論 = モデルミックスで 60-70% コスト削減可能。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補足：ベストプラクティス ①  コンテキスト管理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02920"/>
            <a:ext cx="54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3035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コンテキストウィンドウが埋まるほど性能が劣化する。これが全てのベストプラクティスの出発点。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132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ファイル読込み・コマンド出力・メッセージの全てがコンテキストを消費する。管理しなければ品質が落ちる。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20116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1タスク1セッション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無関係なタスクを1セッションに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詰め込まない。タスクが変わったら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でリセット。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97280"/>
            <a:ext cx="20116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 で /compact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508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コンテキストが 70% に達したら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 /compact を実行。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自動任せにしない。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20116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修正 2 回で /clear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同じ問題を 2 回以上修正したら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コンテキストが汚染されている。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クリーンな再スタートの方が速い。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97280"/>
            <a:ext cx="2011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調査はサブエージェントへ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508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ファイル探索・調査はサブエージェントに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委譲。メインのコンテキストを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クリーンに保つ。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29260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のコツ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246120"/>
            <a:ext cx="36576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行に収める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「この行を消したら Claude がミスするか？」で判断。不要な行を削る。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68880" y="32461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3246120"/>
            <a:ext cx="36576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詳細はポインタで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「詳細は docs/payment-arch.md を参照」。必要な時だけ読み込ませる。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32461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3246120"/>
            <a:ext cx="36576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で生成→育てる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 /init で自動生成。使いながら改善を重ねる。lessons.md で自己学習。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0" y="32461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3246120"/>
            <a:ext cx="36576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ルールは Rules に分離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パススコープ付きルールは .claude/rules/ に。API 規約は API 作業時のみ読み込み。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の指示は約 70% の確率で守られる。100% 必要なルールは Hooks で強制する。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補足：ベストプラクティス ②  計画とプロンプト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760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 正解率 × 20 判断ポイント = 全問正解率 1%。計画がこの確率を劇的に引き上げる。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の内部テスト：計画なしの成功率は約 33%。計画ありで大幅に改善。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の使い方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6304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08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で切替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↔ 実行モード。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ステップ以上のタスクは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 Plan Mode で開始する。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6304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508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構造化して確認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変更ファイル一覧・関数シグネチャ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スキーマ変更・テスト戦略を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明示的に列挙させる。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6304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5087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計画を承認してから実行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「この計画で進めて」と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明示的に GO を出す。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暗黙の了承はさせない。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プロンプトのコツ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88036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ファイルを直接参照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補完でパスを指定。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「src/components/Login.tsx の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バリデーションを修正して」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28803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68880" y="288036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URL・画像を貼る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の URL や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デザインモックのスクショを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ドラッグ＆ドロップ。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288036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具体的に指示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「テスト追加して」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「foo.py のログアウト時の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エッジケースのテストを書いて」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58000" y="28803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2880360"/>
            <a:ext cx="3657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挑戦させる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「この変更を grill して。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テストに通るまで PR 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作らないで。」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エージェントは「レバレッジ」であって「魔法」ではない。速さが安い場面では積極的に、ミスが高くつく場面では慎重に。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補足：ベストプラクティス ③  スケーリングとチーム運用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並行セッションで品質を上げる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6576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144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/ Reviewer 分離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つの Claude が書いたコードを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別の Claude がレビュー。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自分のコードへのバイアスがない。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36576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9144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テスト先行パターン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 がテストを書き、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 がテストを通す実装を書く。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を構造的に強制。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36576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9144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バッチ処理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36208" y="1143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でループ実行。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--allowedTools でスコープ制限。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大規模マイグレーションに最適。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20574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チーム導入のステップ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2651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5880" y="2423160"/>
            <a:ext cx="45720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" y="2834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検証の仕組みから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で Lint + テスト自動実行。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品質の底を担保してから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機能を広げる。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377440"/>
            <a:ext cx="2651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51960" y="2423160"/>
            <a:ext cx="45720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2834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設定を標準化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Skills + Hooks 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で共有。Plugin にまとめて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ワンコマンドでインストール。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377440"/>
            <a:ext cx="2651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7178040" y="2423160"/>
            <a:ext cx="45720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2834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自動化で拡張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で CI/CD 統合。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レビュー自動化。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バッチ処理で大規模対応。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35661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よくあるアンチパターン</a:t>
            </a:r>
            <a:endParaRPr lang="en-US" sz="1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アンチパターン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キッチンシンクセッション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1タスク1セッション。/clear で区切る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何度も同じ修正を繰り返す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2回修正したら /clear + より良いプロンプトで再開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巨大な CLAUDE.md（500行超）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50-100行に絞り、詳細はポインタで参照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毎回手動で許可を出す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モード + Hooks で自動化。許可プロンプト=設定不足のサイン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補足：Claude Code 自身の内部ループ ＝ この WS で学ぶこと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0292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303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自身がタスクを処理する内部ループは「探索→計画→実行」。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各フェーズで使えるツールが制限され、段階的に権限が広がる。この構造は WS の 3 体験そのもの。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2697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23444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34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Explore（探索）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許可ツール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4592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書込み不可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18013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Grep / Glob / LSP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WS での対応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240280"/>
            <a:ext cx="36576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67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体験② SDD の冒頭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仕様書を読み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コードベースを理解する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まず事実を確認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200400"/>
            <a:ext cx="36576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27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懐疑的メモリ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自分の記憶を信じず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コードベースで検証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71800" y="2651760"/>
            <a:ext cx="2286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1143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14300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123444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1234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Plan（計画）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許可ツール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ファイル変更不可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91840" y="18013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TodoWrite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20116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WS での対応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22402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2240280"/>
            <a:ext cx="36576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267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体験② SDD の中核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仕様書を書く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で構造化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承認してから実行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0" y="32004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3291840" y="3200400"/>
            <a:ext cx="36576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3227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Plan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832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4ステップの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最初の2フェーズ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2651760"/>
            <a:ext cx="2286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126480" y="1143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1143000"/>
            <a:ext cx="2697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1234440"/>
            <a:ext cx="251460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1234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Execute（実行）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許可ツール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498080" y="16276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全ツール解放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17920" y="18013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 + Edit + Bash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20116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WS での対応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22402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8B5CF6"/>
          </a:solidFill>
          <a:ln/>
        </p:spPr>
      </p:sp>
      <p:sp>
        <p:nvSpPr>
          <p:cNvPr id="51" name="Shape 49"/>
          <p:cNvSpPr/>
          <p:nvPr/>
        </p:nvSpPr>
        <p:spPr>
          <a:xfrm>
            <a:off x="6217920" y="2240280"/>
            <a:ext cx="3657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2267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体験③ Agentic × SDD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936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が品質ゲート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でブロック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自律的に実装+検証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32004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55" name="Shape 53"/>
          <p:cNvSpPr/>
          <p:nvPr/>
        </p:nvSpPr>
        <p:spPr>
          <a:xfrm>
            <a:off x="6217920" y="3200400"/>
            <a:ext cx="36576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3227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→ Verify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0936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で品質を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ハーネスレベルで担保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 WS は「Claude Code 自身が実践していること」を追体験する構造になっている。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Vibe（探索なし即実行）→ SDD（計画してから実行）→ Agentic（Hooks で品質担保しながら自律実行）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補足：エージェントが LLM に送る情報の全体像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54864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760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回の API リクエスト = system（指示）+ tools（能力）+ messages（会話）の 3 要素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680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エージェントは毎ターンこの 3 要素を組立てて LLM に送信し、レスポンスを解析してツール実行 → 次のターンへ。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system（システムプロンプト）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安全性ルール・基本方針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20240" y="1508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内蔵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ツール使用ガイダンス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20240" y="1892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いつ何を使うか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65760" y="2276856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76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出力フォーマット指示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20240" y="22768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25語/100語制限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6576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キャッシュ境界 ──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45920" y="27797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全組織共有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日付・git branch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20240" y="3044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毎ターン変化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プラットフォーム情報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20240" y="3429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OS・ターミナル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0040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tools（ツール定義）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150876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3291840" y="1508760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Edit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5488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ファイル操作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291840" y="1856232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0" y="18562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1856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54880" y="1856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シェル実行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91840" y="2203704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1840" y="2203704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401568" y="2203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/ Glob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4880" y="2203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コード検索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291840" y="2551176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3291840" y="2551176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3401568" y="2551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 / WebSearch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54880" y="25511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アクセス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291840" y="2898648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3291840" y="2898648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3401568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5488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サブエージェント生成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291840" y="324612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3291840" y="3246120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3401568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TodoWrite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75488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計画管理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291840" y="3593592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3291840" y="35935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3401568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754880" y="3593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一覧のみ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291840" y="3941064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60" name="Shape 58"/>
          <p:cNvSpPr/>
          <p:nvPr/>
        </p:nvSpPr>
        <p:spPr>
          <a:xfrm>
            <a:off x="3291840" y="3941064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3401568" y="3941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ツール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754880" y="3941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外部サービス連携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12648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5" name="Text 63"/>
          <p:cNvSpPr/>
          <p:nvPr/>
        </p:nvSpPr>
        <p:spPr>
          <a:xfrm>
            <a:off x="621792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messages（会話履歴）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1463040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/>
        </p:spPr>
      </p:sp>
      <p:sp>
        <p:nvSpPr>
          <p:cNvPr id="67" name="Shape 65"/>
          <p:cNvSpPr/>
          <p:nvPr/>
        </p:nvSpPr>
        <p:spPr>
          <a:xfrm>
            <a:off x="6217920" y="1463040"/>
            <a:ext cx="3657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8" name="Text 66"/>
          <p:cNvSpPr/>
          <p:nvPr/>
        </p:nvSpPr>
        <p:spPr>
          <a:xfrm>
            <a:off x="6309360" y="14630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85800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注入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（system-reminder タグ）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217920" y="1892808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EC4899"/>
          </a:solidFill>
          <a:ln/>
        </p:spPr>
      </p:sp>
      <p:sp>
        <p:nvSpPr>
          <p:cNvPr id="71" name="Shape 69"/>
          <p:cNvSpPr/>
          <p:nvPr/>
        </p:nvSpPr>
        <p:spPr>
          <a:xfrm>
            <a:off x="6217920" y="1892808"/>
            <a:ext cx="36576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2" name="Text 70"/>
          <p:cNvSpPr/>
          <p:nvPr/>
        </p:nvSpPr>
        <p:spPr>
          <a:xfrm>
            <a:off x="6309360" y="1892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6858000" y="1892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ユーザーの指示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217920" y="2322576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/>
        </p:spPr>
      </p:sp>
      <p:sp>
        <p:nvSpPr>
          <p:cNvPr id="75" name="Shape 73"/>
          <p:cNvSpPr/>
          <p:nvPr/>
        </p:nvSpPr>
        <p:spPr>
          <a:xfrm>
            <a:off x="6217920" y="2322576"/>
            <a:ext cx="36576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6" name="Text 74"/>
          <p:cNvSpPr/>
          <p:nvPr/>
        </p:nvSpPr>
        <p:spPr>
          <a:xfrm>
            <a:off x="6309360" y="23225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858000" y="23225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モデルの思考 +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ツール呼出し要求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217920" y="2752344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/>
        </p:spPr>
      </p:sp>
      <p:sp>
        <p:nvSpPr>
          <p:cNvPr id="79" name="Shape 77"/>
          <p:cNvSpPr/>
          <p:nvPr/>
        </p:nvSpPr>
        <p:spPr>
          <a:xfrm>
            <a:off x="6217920" y="2752344"/>
            <a:ext cx="36576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Text 78"/>
          <p:cNvSpPr/>
          <p:nvPr/>
        </p:nvSpPr>
        <p:spPr>
          <a:xfrm>
            <a:off x="6309360" y="27523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6858000" y="2752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ツール実行結果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（tool_result）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217920" y="3182112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/>
        </p:spPr>
      </p:sp>
      <p:sp>
        <p:nvSpPr>
          <p:cNvPr id="83" name="Shape 81"/>
          <p:cNvSpPr/>
          <p:nvPr/>
        </p:nvSpPr>
        <p:spPr>
          <a:xfrm>
            <a:off x="6217920" y="3182112"/>
            <a:ext cx="36576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4" name="Text 82"/>
          <p:cNvSpPr/>
          <p:nvPr/>
        </p:nvSpPr>
        <p:spPr>
          <a:xfrm>
            <a:off x="6309360" y="31821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6858000" y="31821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次の思考 +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次のツール呼出し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217920" y="3611880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/>
        </p:spPr>
      </p:sp>
      <p:sp>
        <p:nvSpPr>
          <p:cNvPr id="87" name="Shape 85"/>
          <p:cNvSpPr/>
          <p:nvPr/>
        </p:nvSpPr>
        <p:spPr>
          <a:xfrm>
            <a:off x="6217920" y="3611880"/>
            <a:ext cx="3657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8" name="Text 86"/>
          <p:cNvSpPr/>
          <p:nvPr/>
        </p:nvSpPr>
        <p:spPr>
          <a:xfrm>
            <a:off x="6309360" y="3611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6858000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本文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（tool_result で注入）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1" name="Text 8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 = この 3 要素を毎ターン組立て → LLM に送信 → レスポンス解析 → ツール実行のループ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補足：各設定ファイルがどこに注入されるか</a:t>
            </a:r>
            <a:endParaRPr lang="en-US" sz="1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371600"/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設定ファイル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注入先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注入タイミング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ロール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フィールド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常時（静的）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絶対的な指示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変更不可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内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system-reminder タグ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毎ターン再注入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プロジェクトルール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キャッシュ境界の外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本文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(SKILL.md)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内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tool_result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が呼出した時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(tool_result)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オンデマンド注入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会話の一部として扱われる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定義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(.md)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サブエージェントの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+ messages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生成時に一度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独立コンテキスト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親と分離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 出力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内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tool_result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ツール実行前後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(tool_result)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自動フィードバック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 結果等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3756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33756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重要な設計判断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6393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は system ロールではなく user ロールの system-reminder として注入される。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キャッシュ境界を壊さない（system 部分は全ユーザーで共有可能）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コンパクション時に要約可能（system は要約されない）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本文は tool_result として注入される = 「ツールの実行結果」扱い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ユーザーの直接指示（user メッセージ）の方が実質的に優先される理由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補足：コンテキストウィンドウのトークン消費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200K コンテキストウィンドウの内訳（典型的なセッション）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097280" cy="640080"/>
          </a:xfrm>
          <a:prstGeom prst="roundRect">
            <a:avLst>
              <a:gd name="adj" fmla="val 5714"/>
            </a:avLst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2664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89888" y="914400"/>
            <a:ext cx="731520" cy="640080"/>
          </a:xfrm>
          <a:prstGeom prst="roundRect">
            <a:avLst>
              <a:gd name="adj" fmla="val 5714"/>
            </a:avLst>
          </a:prstGeom>
          <a:solidFill>
            <a:srgbClr val="555577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914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89888" y="12664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39696" y="914400"/>
            <a:ext cx="457200" cy="64008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139696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39696" y="12664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15184" y="914400"/>
            <a:ext cx="274320" cy="6400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907792" y="914400"/>
            <a:ext cx="457200" cy="64008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07792" y="12664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~3K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383280" y="914400"/>
            <a:ext cx="5577840" cy="64008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914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会話履歴 + ツール結果（作業スペース）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83280" y="126644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1874520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6459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キャッシュヒット（課金なし）→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コンテキスト消費のポイント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331720"/>
            <a:ext cx="36576" cy="12801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固定コスト ~25K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6334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ツール定義で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約25Kトークン。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うち20Kはキャッシュヒット。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0" y="23317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68880" y="2331720"/>
            <a:ext cx="36576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は要注意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26334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MCPサーバーを多数接続すると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ツール定義が膨らむ。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→ 実質70Kまで縮む可能性。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3317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331720"/>
            <a:ext cx="36576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会話履歴が主戦場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6334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ファイル読込・コマンド出力が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急速にコンテキストを消費。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70%で /compact が推奨。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23317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2331720"/>
            <a:ext cx="36576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は省エネ設計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6334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一覧（description）は ~1K。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本文は呼出し時のみ読込。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CLAUDE.md（常時）との違い。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で学んだことがここに集約されている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を短く保つ → 固定コスト削減 ／ Skills で段階的読込 → オンデマンドでトークン節約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でコンテキスト分離 → 作業スペースを汚さない ／ Hooks はコンテキスト外で動く → ゼロコスト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この構造を理解していれば、コンテキスト管理の全てのベストプラクティスの「なぜ」がわかる。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5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0312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まとめ &amp; 次のステップ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16:30–17:00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明日からの 3 ステップ：車輪の再発明をしない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651760" cy="502920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6517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既存を探す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公式・コミュニティの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/ Agents / 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設定例を収集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awesome-claude-code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 Skills ディレクトリ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の .claude/ 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103120"/>
            <a:ext cx="3200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6400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640080"/>
            <a:ext cx="2651760" cy="502920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914400"/>
            <a:ext cx="265176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658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チームに合わせる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既存テンプレートを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自社プロジェクトに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微調整して導入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をフォーク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の閾値調整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定義のカスタム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103120"/>
            <a:ext cx="32004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17920" y="6400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640080"/>
            <a:ext cx="2651760" cy="502920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914400"/>
            <a:ext cx="265176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658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運用で磨く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スプリントの Retro 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設定を継続改善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独自ルールだけ追加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効いた設定を社内共有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不要なルールを削除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新しい公式更新を取込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1A1F3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公式・OSSの資産をベースに、自社固有のルールだけ上書きする。ゼロから作らない。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it, Spec it, Ship it.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お疲れさまでした！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28600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84448" y="34290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3192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30368" y="34290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7784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を乗りこなそう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AI駆動開発WS</dc:title>
  <dc:subject>PptxGenJS Presentation</dc:subject>
  <dc:creator>PptxGenJS</dc:creator>
  <cp:lastModifiedBy>PptxGenJS</cp:lastModifiedBy>
  <cp:revision>1</cp:revision>
  <dcterms:created xsi:type="dcterms:W3CDTF">2026-04-12T23:18:24Z</dcterms:created>
  <dcterms:modified xsi:type="dcterms:W3CDTF">2026-04-12T23:18:24Z</dcterms:modified>
</cp:coreProperties>
</file>