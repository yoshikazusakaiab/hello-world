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59168" y="1097280"/>
            <a:ext cx="411480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70064" y="1645920"/>
            <a:ext cx="274320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07224" y="1783080"/>
            <a:ext cx="2468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44384" y="18288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alibri"/>
              </a:defRPr>
            </a:pPr>
            <a:r>
              <a:t>Layer 1: 開発規約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3608" y="3026664"/>
            <a:ext cx="27432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30768" y="3163824"/>
            <a:ext cx="2468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67928" y="3209544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Layer 2: 出力スキーマ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90688" y="4700016"/>
            <a:ext cx="2743200" cy="914400"/>
          </a:xfrm>
          <a:prstGeom prst="round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27848" y="4837176"/>
            <a:ext cx="2468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65008" y="4882896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306"/>
                </a:solidFill>
                <a:latin typeface="Calibri"/>
              </a:defRPr>
            </a:pPr>
            <a:r>
              <a:t>Layer 3: コンテキスト構造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Trebuchet MS"/>
              </a:defRPr>
            </a:pPr>
            <a:r>
              <a:t>AI駆動開発における</a:t>
            </a:r>
            <a:br/>
            <a:r>
              <a:t>品質保証・標準の考え方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6400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rPr lang="ja-JP" altLang="en-US" dirty="0"/>
              <a:t>仕様駆動開発</a:t>
            </a:r>
            <a:br>
              <a:rPr dirty="0"/>
            </a:br>
            <a:r>
              <a:rPr dirty="0"/>
              <a:t>3層スタンダード・フレームワーク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Trebuchet MS"/>
              </a:defRPr>
            </a:pPr>
            <a:r>
              <a:t>ドキュメントの役割の変化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069848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033271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1033271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9999"/>
                </a:solidFill>
                <a:latin typeface="Calibri"/>
              </a:defRPr>
            </a:pPr>
            <a:r>
              <a:t>従来の開発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033271"/>
            <a:ext cx="4572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EE7B7"/>
                </a:solidFill>
                <a:latin typeface="Calibri"/>
              </a:defRPr>
            </a:pPr>
            <a:r>
              <a:rPr dirty="0" err="1"/>
              <a:t>AI駆動開発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698480" cy="868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087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文書の役割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554480"/>
            <a:ext cx="18288" cy="6858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1508760"/>
            <a:ext cx="4023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開発プロセスの各工程で求められる</a:t>
            </a:r>
            <a:br/>
            <a:r>
              <a:t>「成果物」として作成する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6459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508760"/>
            <a:ext cx="4480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t>AI が正しい出力を生成するための</a:t>
            </a:r>
            <a:br/>
            <a:r>
              <a:t>「入力ソース」または「出力スキーマ」として機能する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77440"/>
            <a:ext cx="10698480" cy="8686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237744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4231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目的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2468880"/>
            <a:ext cx="18288" cy="6858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06040" y="2423160"/>
            <a:ext cx="4023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品質保証・監査証跡・関係者間の合意形成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603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423160"/>
            <a:ext cx="4480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t>AIへのインプット品質の担保と</a:t>
            </a:r>
            <a:br/>
            <a:r>
              <a:t>自動生成される成果物の構造・品質の定義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91840"/>
            <a:ext cx="10698480" cy="868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329184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3375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誰が作るか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3383280"/>
            <a:ext cx="18288" cy="6858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06040" y="3337560"/>
            <a:ext cx="40233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rPr lang="ja-JP" altLang="en-US" dirty="0"/>
              <a:t>開発</a:t>
            </a:r>
            <a:r>
              <a:rPr dirty="0" err="1"/>
              <a:t>担当者が</a:t>
            </a:r>
            <a:r>
              <a:rPr lang="ja-JP" altLang="en-US" dirty="0"/>
              <a:t>作成</a:t>
            </a:r>
            <a:r>
              <a:rPr dirty="0"/>
              <a:t>し、</a:t>
            </a:r>
            <a:br>
              <a:rPr dirty="0"/>
            </a:br>
            <a:r>
              <a:rPr lang="ja-JP" altLang="en-US" dirty="0"/>
              <a:t>責任者がチェックし、承認する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537960" y="34747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337560"/>
            <a:ext cx="44805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rPr dirty="0" err="1"/>
              <a:t>AIが自動生成し</a:t>
            </a:r>
            <a:r>
              <a:rPr dirty="0"/>
              <a:t>、</a:t>
            </a:r>
            <a:br>
              <a:rPr dirty="0"/>
            </a:br>
            <a:r>
              <a:rPr lang="ja-JP" altLang="en-US" dirty="0"/>
              <a:t>開発担当者</a:t>
            </a:r>
            <a:r>
              <a:rPr dirty="0" err="1"/>
              <a:t>はレビューと承認に集中する</a:t>
            </a:r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731520" y="4206240"/>
            <a:ext cx="10698480" cy="8686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420624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251959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作り方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4297679"/>
            <a:ext cx="18288" cy="6858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06040" y="4251959"/>
            <a:ext cx="40233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rPr lang="ja-JP" altLang="en-US" dirty="0"/>
              <a:t>人が作成</a:t>
            </a:r>
            <a:endParaRPr lang="en-US" altLang="ja-JP" dirty="0"/>
          </a:p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rPr lang="ja-JP" altLang="en-US" dirty="0"/>
              <a:t>　→テンプレ化、標準による効率化</a:t>
            </a:r>
            <a:endParaRPr lang="en-US" altLang="ja-JP" dirty="0"/>
          </a:p>
        </p:txBody>
      </p:sp>
      <p:sp>
        <p:nvSpPr>
          <p:cNvPr id="36" name="TextBox 35"/>
          <p:cNvSpPr txBox="1"/>
          <p:nvPr/>
        </p:nvSpPr>
        <p:spPr>
          <a:xfrm>
            <a:off x="6537960" y="43891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251959"/>
            <a:ext cx="44805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rPr dirty="0" err="1"/>
              <a:t>コンテキストリポの情報をAIが解析</a:t>
            </a:r>
            <a:br>
              <a:rPr dirty="0"/>
            </a:br>
            <a:r>
              <a:rPr dirty="0" err="1"/>
              <a:t>スキーマに沿って自動生成</a:t>
            </a:r>
            <a:r>
              <a:rPr dirty="0"/>
              <a:t> → </a:t>
            </a:r>
            <a:r>
              <a:rPr dirty="0" err="1"/>
              <a:t>人が承認</a:t>
            </a:r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731520" y="5120640"/>
            <a:ext cx="10698480" cy="868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31520" y="512064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166359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文書間の整合性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5212079"/>
            <a:ext cx="18288" cy="6858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06040" y="5166359"/>
            <a:ext cx="40233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rPr dirty="0"/>
              <a:t>人</a:t>
            </a:r>
            <a:r>
              <a:rPr lang="ja-JP" altLang="en-US" dirty="0"/>
              <a:t>の目による確認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6537960" y="53035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166359"/>
            <a:ext cx="4480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t>AIが文書間の依存関係を追跡し</a:t>
            </a:r>
            <a:br/>
            <a:r>
              <a:t>矛盾を自動検出・修正提案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126480"/>
            <a:ext cx="10698480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520" y="6126480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5840" y="6126480"/>
            <a:ext cx="10241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テンプレートは「人が埋めるフォーマット」から「AIの出力スキーマ（構造・必須項目・品質基準の型定義）」へ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Trebuchet MS"/>
              </a:defRPr>
            </a:pPr>
            <a:r>
              <a:t>プロダクト開発のワークフロー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コンテキストリポジトリを起点とした</a:t>
            </a:r>
            <a:r>
              <a:rPr lang="ja-JP" altLang="en-US" dirty="0"/>
              <a:t>ドキュメント</a:t>
            </a:r>
            <a:r>
              <a:rPr dirty="0" err="1"/>
              <a:t>自動化フロ</a:t>
            </a:r>
            <a:r>
              <a:rPr dirty="0"/>
              <a:t>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10312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103120" cy="54864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65760" cy="365760"/>
          </a:xfrm>
          <a:prstGeom prst="round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9164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D97306"/>
                </a:solidFill>
                <a:latin typeface="Calibri"/>
              </a:defRPr>
            </a:pPr>
            <a:r>
              <a:t>コンテキスト</a:t>
            </a:r>
            <a:br/>
            <a:r>
              <a:t>リポジトリ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828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インタビュー記録</a:t>
            </a:r>
            <a:br/>
            <a:r>
              <a:t>ペルソナ</a:t>
            </a:r>
            <a:br/>
            <a:r>
              <a:t>調査結果</a:t>
            </a:r>
            <a:br/>
            <a:r>
              <a:t>競合分析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2608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554480"/>
            <a:ext cx="210312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8920" y="1554480"/>
            <a:ext cx="21031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79" y="173736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79" y="17373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1691640"/>
            <a:ext cx="1371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rPr lang="ja-JP" altLang="en-US" dirty="0"/>
              <a:t>仕様駆動開発</a:t>
            </a:r>
            <a:endParaRPr lang="en-US" altLang="ja-JP" dirty="0"/>
          </a:p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rPr lang="ja-JP" altLang="en-US" dirty="0"/>
              <a:t>ツール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2926079" y="2468880"/>
            <a:ext cx="1828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Constitution</a:t>
            </a:r>
            <a:br/>
            <a:r>
              <a:t>Specify</a:t>
            </a:r>
            <a:br/>
            <a:r>
              <a:t>Plan</a:t>
            </a:r>
            <a:br/>
            <a:r>
              <a:t>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92608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1554480"/>
            <a:ext cx="210312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0640" y="1554480"/>
            <a:ext cx="2103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257800" y="173736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7800" y="17373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1691640"/>
            <a:ext cx="1371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rPr dirty="0" err="1"/>
              <a:t>自動生成</a:t>
            </a:r>
            <a:br>
              <a:rPr dirty="0"/>
            </a:br>
            <a:r>
              <a:rPr lang="ja-JP" altLang="en-US" dirty="0"/>
              <a:t>ドキュメント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5257800" y="2468880"/>
            <a:ext cx="1828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StRS / SRS</a:t>
            </a:r>
            <a:br/>
            <a:r>
              <a:t>アクセプタンステスト</a:t>
            </a:r>
            <a:br/>
            <a:r>
              <a:t>アーキテクチャ図</a:t>
            </a:r>
            <a:br/>
            <a:r>
              <a:t>DBスキーマ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292608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59" y="1554480"/>
            <a:ext cx="210312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52359" y="1554480"/>
            <a:ext cx="2103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589519" y="1737360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19" y="17373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8" y="1691640"/>
            <a:ext cx="150876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rPr lang="ja-JP" altLang="en-US" dirty="0"/>
              <a:t>人間</a:t>
            </a:r>
            <a:r>
              <a:rPr dirty="0"/>
              <a:t>の</a:t>
            </a:r>
            <a:br>
              <a:rPr dirty="0"/>
            </a:br>
            <a:r>
              <a:rPr dirty="0" err="1"/>
              <a:t>レビュ</a:t>
            </a:r>
            <a:r>
              <a:rPr dirty="0"/>
              <a:t>ー・</a:t>
            </a:r>
            <a:r>
              <a:rPr dirty="0" err="1"/>
              <a:t>承認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7589519" y="2468880"/>
            <a:ext cx="1828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品質チェック</a:t>
            </a:r>
            <a:br/>
            <a:r>
              <a:t>ビジネス判断</a:t>
            </a:r>
            <a:br/>
            <a:r>
              <a:t>仕様確定</a:t>
            </a:r>
            <a:br/>
            <a:r>
              <a:t>優先度調整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92608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1554480"/>
            <a:ext cx="210312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84080" y="1554480"/>
            <a:ext cx="210312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1737360"/>
            <a:ext cx="365760" cy="365760"/>
          </a:xfrm>
          <a:prstGeom prst="round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21240" y="17373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69164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DB2777"/>
                </a:solidFill>
                <a:latin typeface="Calibri"/>
              </a:defRPr>
            </a:pPr>
            <a:r>
              <a:t>プロダクト</a:t>
            </a:r>
            <a:br/>
            <a:r>
              <a:t>リポジトリ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2468880"/>
            <a:ext cx="1828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実装コード</a:t>
            </a:r>
            <a:br/>
            <a:r>
              <a:t>テスト</a:t>
            </a:r>
            <a:br/>
            <a:r>
              <a:t>CI/CD</a:t>
            </a:r>
            <a:br/>
            <a:r>
              <a:t>リリース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20640"/>
            <a:ext cx="530352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120640"/>
            <a:ext cx="54864" cy="109728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166360"/>
            <a:ext cx="4754880" cy="6976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D97306"/>
                </a:solidFill>
                <a:latin typeface="Trebuchet MS"/>
              </a:defRPr>
            </a:pPr>
            <a:r>
              <a:rPr dirty="0"/>
              <a:t>Context Repository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dirty="0" err="1"/>
              <a:t>テキストベースのプロジェクト知識。Gitで変更履歴を管理</a:t>
            </a:r>
            <a:r>
              <a:rPr dirty="0"/>
              <a:t>。</a:t>
            </a:r>
            <a:br>
              <a:rPr dirty="0"/>
            </a:br>
            <a:r>
              <a:rPr dirty="0" err="1"/>
              <a:t>インタビュ</a:t>
            </a:r>
            <a:r>
              <a:rPr dirty="0"/>
              <a:t>ー / </a:t>
            </a:r>
            <a:r>
              <a:rPr dirty="0" err="1"/>
              <a:t>ペルソナ</a:t>
            </a:r>
            <a:r>
              <a:rPr dirty="0"/>
              <a:t> / </a:t>
            </a:r>
            <a:r>
              <a:rPr dirty="0" err="1"/>
              <a:t>ユーザージャーニ</a:t>
            </a:r>
            <a:r>
              <a:rPr dirty="0"/>
              <a:t>ー / </a:t>
            </a:r>
            <a:r>
              <a:rPr dirty="0" err="1"/>
              <a:t>調査結果</a:t>
            </a:r>
            <a:endParaRPr dirty="0"/>
          </a:p>
        </p:txBody>
      </p:sp>
      <p:sp>
        <p:nvSpPr>
          <p:cNvPr id="44" name="Rectangle 43"/>
          <p:cNvSpPr/>
          <p:nvPr/>
        </p:nvSpPr>
        <p:spPr>
          <a:xfrm>
            <a:off x="6400800" y="5120640"/>
            <a:ext cx="530352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0" y="5120640"/>
            <a:ext cx="54864" cy="10972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0" y="5166360"/>
            <a:ext cx="4754880" cy="6976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DB2777"/>
                </a:solidFill>
                <a:latin typeface="Trebuchet MS"/>
              </a:defRPr>
            </a:pPr>
            <a:r>
              <a:rPr dirty="0"/>
              <a:t>Product Repository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dirty="0"/>
              <a:t>実装コード・テスト・CI/CD。</a:t>
            </a:r>
            <a:r>
              <a:rPr lang="en-US" dirty="0"/>
              <a:t>instructions</a:t>
            </a:r>
            <a:r>
              <a:rPr dirty="0"/>
              <a:t>.md / .</a:t>
            </a:r>
            <a:r>
              <a:rPr dirty="0" err="1"/>
              <a:t>eslintrc</a:t>
            </a:r>
            <a:r>
              <a:rPr dirty="0"/>
              <a:t> </a:t>
            </a:r>
            <a:r>
              <a:rPr dirty="0" err="1"/>
              <a:t>等の</a:t>
            </a:r>
            <a:br>
              <a:rPr dirty="0"/>
            </a:br>
            <a:r>
              <a:rPr dirty="0" err="1"/>
              <a:t>開発規約を同梱。Spec-Kit</a:t>
            </a:r>
            <a:r>
              <a:rPr lang="ja-JP" altLang="en-US" dirty="0"/>
              <a:t>のような</a:t>
            </a:r>
            <a:r>
              <a:rPr dirty="0"/>
              <a:t> SDD </a:t>
            </a:r>
            <a:r>
              <a:rPr dirty="0" err="1"/>
              <a:t>ワークフローで開発</a:t>
            </a:r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5724144" y="5438447"/>
            <a:ext cx="7315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6B7280"/>
                </a:solidFill>
                <a:latin typeface="Calibri"/>
              </a:defRPr>
            </a:pPr>
            <a:r>
              <a:rPr lang="ja-JP" altLang="en-US" dirty="0"/>
              <a:t>→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PaC × Spec-Kit × AIDLC  |  3-Layer Standards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Trebuchet MS"/>
              </a:defRPr>
            </a:pPr>
            <a:r>
              <a:t>3層スタンダード・フレームワーク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事前に整備すべき標準の再定義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73152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1600200"/>
            <a:ext cx="118872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0020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5544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Trebuchet MS"/>
              </a:defRPr>
            </a:pPr>
            <a:r>
              <a:t>組織の開発規約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920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一度整備すれば全プロジェクトで再利用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コード規約 (.eslintrc / CLAUDE.md)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84248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CI/CDパイプライン (.github/workflows/ci.yml)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68296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ブランチ戦略・コミット規約 (CONTRIBUTING.md)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60020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ADRテンプレート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984248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レトロスペクティブフォーマット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28600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配置先: 標準テンプレートリポ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08960"/>
            <a:ext cx="1069848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10896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5840" y="3246120"/>
            <a:ext cx="11887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24612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20040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Trebuchet MS"/>
              </a:defRPr>
            </a:pPr>
            <a:r>
              <a:t>AI出力スキーマ定義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5661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各文書の構造・必須項目・品質基準の型定義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4612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StRS出力スキーマ（必須セクション・項目定義）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30168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SRS出力スキーマ（Epic/Feature/Story構造）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14216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アーキテクチャ図スキーマ（C4モデル要件）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24612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テスト定義スキーマ（Given/When/Then）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630168"/>
            <a:ext cx="23774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dirty="0"/>
              <a:t>• DBスキーマ生成ルール（命名規則・型制約）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9319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配置先: Spec-Kit / AIDLC設定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4754880"/>
            <a:ext cx="73152" cy="146304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5840" y="4892040"/>
            <a:ext cx="1188720" cy="320040"/>
          </a:xfrm>
          <a:prstGeom prst="round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489204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8463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D97306"/>
                </a:solidFill>
                <a:latin typeface="Trebuchet MS"/>
              </a:defRPr>
            </a:pPr>
            <a:r>
              <a:t>コンテキストリポ構造ルール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212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AIの生成品質はインプットの質に直結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9204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インタビュー記録フォーマット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76088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ペルソナ定義テンプレート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660136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ユーザージャーニーマップ構造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89204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調査結果・競合分析フォーマット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276088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ビジネス要件・制約条件の記述ルール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55778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配置先: Context Repository</a:t>
            </a:r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09EF86C8-A1A5-0E63-5E8D-7215A345159F}"/>
              </a:ext>
            </a:extLst>
          </p:cNvPr>
          <p:cNvSpPr txBox="1"/>
          <p:nvPr/>
        </p:nvSpPr>
        <p:spPr>
          <a:xfrm>
            <a:off x="8961120" y="4073791"/>
            <a:ext cx="23774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API</a:t>
            </a:r>
            <a:r>
              <a:rPr lang="ja-JP" altLang="en-US" dirty="0"/>
              <a:t>仕様書（</a:t>
            </a:r>
            <a:r>
              <a:rPr lang="en-US" altLang="ja-JP" dirty="0" err="1"/>
              <a:t>OpenAPI</a:t>
            </a:r>
            <a:r>
              <a:rPr lang="ja-JP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PaC × Spec-Kit × AIDLC  |  3-Layer Standards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118872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2004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Trebuchet MS"/>
              </a:defRPr>
            </a:pPr>
            <a:r>
              <a:t>組織の開発規約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一度整備すれば全プロジェクトで再利用できる標準基盤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5087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コード規約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/>
              </a:defRPr>
            </a:pPr>
            <a:r>
              <a:rPr dirty="0"/>
              <a:t>.</a:t>
            </a:r>
            <a:r>
              <a:rPr dirty="0" err="1"/>
              <a:t>eslintrc.json</a:t>
            </a:r>
            <a:r>
              <a:rPr dirty="0"/>
              <a:t> + </a:t>
            </a:r>
            <a:r>
              <a:rPr lang="en-US" dirty="0"/>
              <a:t>instructions</a:t>
            </a:r>
            <a:r>
              <a:rPr dirty="0"/>
              <a:t>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50876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ESLintルールでツール強制 + CLAUDE.mdでAI行動制御</a:t>
            </a:r>
            <a:br/>
            <a:r>
              <a:t>関数50行以内・循環的複雑度10以下等のXP基準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691640"/>
            <a:ext cx="137160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169164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プロダクトリポ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23160"/>
            <a:ext cx="106984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42316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2468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CI/CDパイプライン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788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/>
              </a:defRPr>
            </a:pPr>
            <a:r>
              <a:t>.github/workflows/ci.yml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68880"/>
            <a:ext cx="5943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dirty="0"/>
              <a:t>lint → test → security </a:t>
            </a:r>
            <a:r>
              <a:rPr lang="en-US" dirty="0"/>
              <a:t>check</a:t>
            </a:r>
            <a:r>
              <a:rPr lang="ja-JP" altLang="en-US" dirty="0"/>
              <a:t> の自動品質ゲート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9875520" y="2651760"/>
            <a:ext cx="137160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265176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プロダクトリポ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338328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429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ブランチ・コミット規約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49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/>
              </a:defRPr>
            </a:pPr>
            <a:r>
              <a:t>CONTRIBUTING.md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429000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dirty="0" err="1"/>
              <a:t>ブランチ戦略</a:t>
            </a:r>
            <a:r>
              <a:rPr dirty="0"/>
              <a:t> + </a:t>
            </a:r>
            <a:r>
              <a:rPr dirty="0" err="1"/>
              <a:t>PR運用ルール</a:t>
            </a:r>
            <a:r>
              <a:rPr lang="ja-JP" altLang="en-US" dirty="0"/>
              <a:t>を</a:t>
            </a:r>
            <a:r>
              <a:rPr lang="en-US" altLang="ja-JP" dirty="0"/>
              <a:t>Skill</a:t>
            </a:r>
            <a:r>
              <a:rPr lang="ja-JP" altLang="en-US" dirty="0"/>
              <a:t>化</a:t>
            </a:r>
            <a:br>
              <a:rPr dirty="0"/>
            </a:br>
            <a:r>
              <a:rPr lang="en-US" altLang="ja-JP" dirty="0"/>
              <a:t>Hooks</a:t>
            </a:r>
            <a:r>
              <a:rPr lang="ja-JP" altLang="en-US" dirty="0"/>
              <a:t>との組み合わせで</a:t>
            </a:r>
            <a:r>
              <a:rPr lang="en-US" altLang="ja-JP" dirty="0"/>
              <a:t>AI</a:t>
            </a:r>
            <a:r>
              <a:rPr lang="ja-JP" altLang="en-US" dirty="0"/>
              <a:t>による記録を強制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9875520" y="3611880"/>
            <a:ext cx="137160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0" y="36118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プロダクトリポ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343400"/>
            <a:ext cx="106984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434340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43891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ADRテンプレート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709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/>
              </a:defRPr>
            </a:pPr>
            <a:r>
              <a:t>docs/adr/NNNN-*.md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389120"/>
            <a:ext cx="594360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dirty="0" err="1"/>
              <a:t>設計判断を</a:t>
            </a:r>
            <a:r>
              <a:rPr dirty="0"/>
              <a:t> Context/Options/Decision/Consequences </a:t>
            </a:r>
            <a:r>
              <a:rPr dirty="0" err="1"/>
              <a:t>で記録</a:t>
            </a:r>
            <a:br>
              <a:rPr dirty="0"/>
            </a:br>
            <a:r>
              <a:rPr dirty="0" err="1"/>
              <a:t>AIが過去のADRを参照して一貫性のある提案を生成</a:t>
            </a:r>
            <a:endParaRPr lang="en-US" dirty="0"/>
          </a:p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lang="ja-JP" altLang="en-US" dirty="0"/>
              <a:t>過去の議論をぶり返さない、使うほどにプロジェクトに馴染むエージェント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9875520" y="4572000"/>
            <a:ext cx="137160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0" y="457200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プロダクトリポ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" y="530352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3492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レトロスペクティブ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6692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/>
              </a:defRPr>
            </a:pPr>
            <a:r>
              <a:t>retrospectives/YYYY-MM-DD.md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349240"/>
            <a:ext cx="594360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dirty="0" err="1"/>
              <a:t>KPT形式</a:t>
            </a:r>
            <a:r>
              <a:rPr dirty="0"/>
              <a:t> + </a:t>
            </a:r>
            <a:r>
              <a:rPr dirty="0" err="1"/>
              <a:t>メトリクス</a:t>
            </a:r>
            <a:r>
              <a:rPr dirty="0"/>
              <a:t> + </a:t>
            </a:r>
            <a:r>
              <a:rPr dirty="0" err="1"/>
              <a:t>改善アクションログ</a:t>
            </a:r>
            <a:br>
              <a:rPr dirty="0"/>
            </a:br>
            <a:r>
              <a:rPr dirty="0" err="1"/>
              <a:t>Lean原則「Amplify</a:t>
            </a:r>
            <a:r>
              <a:rPr dirty="0"/>
              <a:t> </a:t>
            </a:r>
            <a:r>
              <a:rPr dirty="0" err="1"/>
              <a:t>Learning」の実践記録</a:t>
            </a:r>
            <a:endParaRPr lang="en-US" dirty="0"/>
          </a:p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lang="ja-JP" altLang="en-US" dirty="0"/>
              <a:t>新たな学びを人と同じように教え込む</a:t>
            </a:r>
            <a:endParaRPr dirty="0"/>
          </a:p>
        </p:txBody>
      </p:sp>
      <p:sp>
        <p:nvSpPr>
          <p:cNvPr id="42" name="Rounded Rectangle 41"/>
          <p:cNvSpPr/>
          <p:nvPr/>
        </p:nvSpPr>
        <p:spPr>
          <a:xfrm>
            <a:off x="9875520" y="5532120"/>
            <a:ext cx="137160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75520" y="553212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コンテキストリポ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PaC × Spec-Kit × AIDLC  |  3-Layer Standards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11887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2004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Trebuchet MS"/>
              </a:defRPr>
            </a:pPr>
            <a:r>
              <a:t>AI出力スキーマ定義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AIが生成する各文書の構造・必須項目・品質基準の型定義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04672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4356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StRS スキーマ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91640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ステークホルダ</a:t>
            </a:r>
            <a:r>
              <a:rPr dirty="0"/>
              <a:t>ー</a:t>
            </a:r>
            <a:r>
              <a:rPr lang="ja-JP" altLang="en-US" dirty="0"/>
              <a:t>、ユーザーの</a:t>
            </a:r>
            <a:r>
              <a:rPr dirty="0" err="1"/>
              <a:t>要求の出力構造定義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114800" y="143560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必須セクション: 文書情報 / システム概要 / インタビューログ / 要求一覧</a:t>
            </a:r>
            <a:br/>
            <a:r>
              <a:t>品質基準: MoSCoW優先度必須・受入基準必須・トレーサビリティID付与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417320"/>
            <a:ext cx="24688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43560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入力ソース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9164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97306"/>
                </a:solidFill>
                <a:latin typeface="Calibri"/>
              </a:defRPr>
            </a:pPr>
            <a:r>
              <a:t>インタビュー記録</a:t>
            </a:r>
            <a:br/>
            <a:r>
              <a:t>ペルソナ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77440"/>
            <a:ext cx="804672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237744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23957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SRS スキーマ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51760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lang="ja-JP" altLang="en-US" dirty="0"/>
              <a:t>仕様駆動開発の</a:t>
            </a:r>
            <a:r>
              <a:rPr dirty="0" err="1"/>
              <a:t>仕様書の出力構造定義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114800" y="239572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必須構造: Epic → Feature → UserStory の3階層</a:t>
            </a:r>
            <a:br/>
            <a:r>
              <a:t>品質基準: 各UserStoryにGiven/When/Then受入基準必須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377440"/>
            <a:ext cx="24688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239572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入力ソース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65176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97306"/>
                </a:solidFill>
                <a:latin typeface="Calibri"/>
              </a:defRPr>
            </a:pPr>
            <a:r>
              <a:t>StRS</a:t>
            </a:r>
            <a:br/>
            <a:r>
              <a:t>ビジネス要件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337560"/>
            <a:ext cx="804672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333756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33558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アーキテクチャ図スキーマ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61188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C4モデル準拠のアーキテクチャ出力定義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35584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必須レベル: Context / Container / Component の3層</a:t>
            </a:r>
            <a:br/>
            <a:r>
              <a:t>品質基準: Mermaid記法・コンポーネント間の依存関係明示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3337560"/>
            <a:ext cx="24688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0" y="335584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入力ソース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61188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97306"/>
                </a:solidFill>
                <a:latin typeface="Calibri"/>
              </a:defRPr>
            </a:pPr>
            <a:r>
              <a:t>SRS</a:t>
            </a:r>
            <a:br/>
            <a:r>
              <a:t>技術制約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97680"/>
            <a:ext cx="804672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1520" y="429768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43159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テスト定義スキーマ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57200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アクセプタンステスト・ユニットテストの出力定義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31596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必須構造: Feature → Scenario → Given/When/Then</a:t>
            </a:r>
            <a:br/>
            <a:r>
              <a:t>品質基準: 正常系・異常系・境界値の3パターン必須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4297680"/>
            <a:ext cx="24688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52560" y="43159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入力ソース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57200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97306"/>
                </a:solidFill>
                <a:latin typeface="Calibri"/>
              </a:defRPr>
            </a:pPr>
            <a:r>
              <a:t>SRS</a:t>
            </a:r>
            <a:br/>
            <a:r>
              <a:t>UserStory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257800"/>
            <a:ext cx="804672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1520" y="525780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" y="5276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DBスキーマ生成ルール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5321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Prismaスキーマの自動生成ルール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527608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必須要素: モデル / リレーション / インデックス / 列挙型</a:t>
            </a:r>
            <a:br/>
            <a:r>
              <a:t>品質基準: 命名規則・型制約・監査カラム（createdAt等）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5257800"/>
            <a:ext cx="24688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52560" y="52760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入力ソース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55321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97306"/>
                </a:solidFill>
                <a:latin typeface="Calibri"/>
              </a:defRPr>
            </a:pPr>
            <a:r>
              <a:t>SRS</a:t>
            </a:r>
            <a:br/>
            <a:r>
              <a:t>アーキテクチャ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PaC × Spec-Kit × AIDLC  |  3-Layer Standards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1188720" cy="365760"/>
          </a:xfrm>
          <a:prstGeom prst="round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2004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Trebuchet MS"/>
              </a:defRPr>
            </a:pPr>
            <a:r>
              <a:t>コンテキストリポジトリ構造ルール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AIの生成品質はインプットの質に直結する — 最も重要なレイヤー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029200" cy="411480"/>
          </a:xfrm>
          <a:prstGeom prst="rect">
            <a:avLst/>
          </a:prstGeom>
          <a:solidFill>
            <a:srgbClr val="FD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306"/>
                </a:solidFill>
                <a:latin typeface="Calibri"/>
              </a:defRPr>
            </a:pPr>
            <a:r>
              <a:t>推奨ディレクトリ構造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4572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onsolas"/>
              </a:defRPr>
            </a:pPr>
            <a:r>
              <a:t>context-repo/</a:t>
            </a:r>
            <a:br/>
            <a:r>
              <a:t>├── interviews/</a:t>
            </a:r>
            <a:br/>
            <a:r>
              <a:t>│   ├── 2024-01-15_stakeholder-A.md</a:t>
            </a:r>
            <a:br/>
            <a:r>
              <a:t>│   └── template.md</a:t>
            </a:r>
            <a:br/>
            <a:r>
              <a:t>├── personas/</a:t>
            </a:r>
            <a:br/>
            <a:r>
              <a:t>│   ├── persona-primary-user.md</a:t>
            </a:r>
            <a:br/>
            <a:r>
              <a:t>│   └── template.md</a:t>
            </a:r>
            <a:br/>
            <a:r>
              <a:t>├── research/</a:t>
            </a:r>
            <a:br/>
            <a:r>
              <a:t>│   ├── competitor-analysis.md</a:t>
            </a:r>
            <a:br/>
            <a:r>
              <a:t>│   └── template.md</a:t>
            </a:r>
            <a:br/>
            <a:r>
              <a:t>├── journeys/</a:t>
            </a:r>
            <a:br/>
            <a:r>
              <a:t>│   ├── user-journey-onboarding.md</a:t>
            </a:r>
            <a:br/>
            <a:r>
              <a:t>│   └── template.md</a:t>
            </a:r>
            <a:br/>
            <a:r>
              <a:t>├── requirements/</a:t>
            </a:r>
            <a:br/>
            <a:r>
              <a:t>│   ├── business-constraints.md</a:t>
            </a:r>
            <a:br/>
            <a:r>
              <a:t>│   └── non-functional-requirements.md</a:t>
            </a:r>
            <a:br/>
            <a:r>
              <a:t>├── decisions/</a:t>
            </a:r>
            <a:br/>
            <a:r>
              <a:t>│   └── product-decision-log.md</a:t>
            </a:r>
            <a:br/>
            <a:r>
              <a:t>└── README.md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463040"/>
            <a:ext cx="5486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54864" cy="82296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4813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306"/>
                </a:solidFill>
                <a:latin typeface="Calibri"/>
              </a:defRPr>
            </a:pPr>
            <a:r>
              <a:t>インタビュー記録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3736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日付_対象者.md 形式。発言の要約ではなく構造化された記録。</a:t>
            </a:r>
            <a:br/>
            <a:r>
              <a:t>誰が / 何を / なぜ / 優先度 を明示的に分離する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73736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563EB"/>
                </a:solidFill>
                <a:latin typeface="Calibri"/>
              </a:defRPr>
            </a:pPr>
            <a:r>
              <a:t>→ AIが要求を正確に抽出できる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414016"/>
            <a:ext cx="5486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2414016"/>
            <a:ext cx="54864" cy="82296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43230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306"/>
                </a:solidFill>
                <a:latin typeface="Calibri"/>
              </a:defRPr>
            </a:pPr>
            <a:r>
              <a:t>ペルソナ定義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88336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名前 / 役割 / ゴール / ペインポイント / 利用シナリオ を</a:t>
            </a:r>
            <a:br/>
            <a:r>
              <a:t>統一フォーマットで記述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688336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563EB"/>
                </a:solidFill>
                <a:latin typeface="Calibri"/>
              </a:defRPr>
            </a:pPr>
            <a:r>
              <a:t>→ AIがユーザー視点の仕様を生成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364992"/>
            <a:ext cx="5486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0" y="3364992"/>
            <a:ext cx="54864" cy="82296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3832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306"/>
                </a:solidFill>
                <a:latin typeface="Calibri"/>
              </a:defRPr>
            </a:pPr>
            <a:r>
              <a:t>調査・競合分析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調査日 / 対象 / 方法 / 発見事項 / 示唆 の5項目を必須化。</a:t>
            </a:r>
            <a:br/>
            <a:r>
              <a:t>定量データはCSV/JSON形式で同梱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639312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563EB"/>
                </a:solidFill>
                <a:latin typeface="Calibri"/>
              </a:defRPr>
            </a:pPr>
            <a:r>
              <a:t>→ AIがエビデンスベースの提案を生成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315968"/>
            <a:ext cx="5486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0" y="4315968"/>
            <a:ext cx="54864" cy="82296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43342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306"/>
                </a:solidFill>
                <a:latin typeface="Calibri"/>
              </a:defRPr>
            </a:pPr>
            <a:r>
              <a:t>ユーザージャーニー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590288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ステージ / 行動 / 思考 / 感情 / タッチポイント / 課題 を</a:t>
            </a:r>
            <a:br/>
            <a:r>
              <a:t>テーブルまたはMermaid形式で記述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590288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563EB"/>
                </a:solidFill>
                <a:latin typeface="Calibri"/>
              </a:defRPr>
            </a:pPr>
            <a:r>
              <a:t>→ AIが網羅的なユーザーストーリーを生成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5266944"/>
            <a:ext cx="5486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0" y="5266944"/>
            <a:ext cx="54864" cy="82296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5285231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306"/>
                </a:solidFill>
                <a:latin typeface="Calibri"/>
              </a:defRPr>
            </a:pPr>
            <a:r>
              <a:t>ビジネス要件・制約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541264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優先度付きの要件リスト + 技術的・法的・予算の制約を</a:t>
            </a:r>
            <a:br/>
            <a:r>
              <a:t>明示的に分離して記述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541264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563EB"/>
                </a:solidFill>
                <a:latin typeface="Calibri"/>
              </a:defRPr>
            </a:pPr>
            <a:r>
              <a:t>→ AIがスコープを正確に把握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PaC × Spec-Kit × AIDLC  |  3-Layer Standards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Trebuchet MS"/>
              </a:defRPr>
            </a:pPr>
            <a:r>
              <a:t>導入ロードマップ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段階的に自動化レベルを引き上げる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45920"/>
            <a:ext cx="109728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Trebuchet MS"/>
              </a:defRPr>
            </a:pPr>
            <a:r>
              <a:t>基盤整備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Layer 1 の開発規約を整備・標準化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748" y="3566160"/>
            <a:ext cx="2514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dirty="0" err="1"/>
              <a:t>コード規約</a:t>
            </a:r>
            <a:r>
              <a:rPr dirty="0"/>
              <a:t> / CI/CD / CONTRIBUTING を</a:t>
            </a:r>
            <a:br>
              <a:rPr dirty="0"/>
            </a:br>
            <a:r>
              <a:rPr lang="ja-JP" altLang="en-US" dirty="0"/>
              <a:t>作成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94360" y="427090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rPr dirty="0" err="1"/>
              <a:t>ADR運用を開始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108960" y="320040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1463040"/>
            <a:ext cx="265176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7560" y="1463040"/>
            <a:ext cx="2651760" cy="54864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74720" y="1645920"/>
            <a:ext cx="1097280" cy="320040"/>
          </a:xfrm>
          <a:prstGeom prst="round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164592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1031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D97306"/>
                </a:solidFill>
                <a:latin typeface="Trebuchet MS"/>
              </a:defRPr>
            </a:pPr>
            <a:r>
              <a:t>コンテキスト構造化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5603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Layer 3 のコンテキストリポ構造ルール策定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6616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既存のインタビュー記録・ペルソナを</a:t>
            </a:r>
            <a:br/>
            <a:r>
              <a:t>統一フォーマットに移行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7200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テンプレートとガイドラインを整備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20040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463040"/>
            <a:ext cx="265176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55080" y="1645920"/>
            <a:ext cx="10972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64592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1031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Trebuchet MS"/>
              </a:defRPr>
            </a:pPr>
            <a:r>
              <a:t>AI出力スキーマ定義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5603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Layer 2 の各文書スキーマを定義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56616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Spec-Kit / AIDLCに</a:t>
            </a:r>
            <a:br/>
            <a:r>
              <a:t>出力スキーマを組み込み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57200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パイロットプロジェクトで検証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20040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463040"/>
            <a:ext cx="265176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98280" y="1463040"/>
            <a:ext cx="26517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235440" y="1645920"/>
            <a:ext cx="109728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35440" y="164592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16642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継続的改善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2103120"/>
            <a:ext cx="2377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Trebuchet MS"/>
              </a:defRPr>
            </a:pPr>
            <a:r>
              <a:rPr lang="en-US" altLang="ja-JP" dirty="0"/>
              <a:t>AIDD</a:t>
            </a:r>
            <a:r>
              <a:rPr lang="ja-JP" altLang="en-US" dirty="0"/>
              <a:t>改善ループ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コンテキスト→文書の自動生成パイプライン完成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356616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文書間の整合性チェック自動化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457200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メトリクスに基づくスキーマ改善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  <a:latin typeface="Calibri"/>
              </a:defRPr>
            </a:pPr>
            <a:r>
              <a:t>成功指標: 文書作成時間 80%削減  |  文書間不整合 95%削減  |  新メンバーオンボーディング時間 60%短縮</a:t>
            </a:r>
          </a:p>
        </p:txBody>
      </p:sp>
      <p:sp>
        <p:nvSpPr>
          <p:cNvPr id="50" name="TextBox 29">
            <a:extLst>
              <a:ext uri="{FF2B5EF4-FFF2-40B4-BE49-F238E27FC236}">
                <a16:creationId xmlns:a16="http://schemas.microsoft.com/office/drawing/2014/main" id="{09516411-2CBB-DE4E-A876-AAD51B2095FA}"/>
              </a:ext>
            </a:extLst>
          </p:cNvPr>
          <p:cNvSpPr txBox="1"/>
          <p:nvPr/>
        </p:nvSpPr>
        <p:spPr>
          <a:xfrm>
            <a:off x="4823460" y="5421125"/>
            <a:ext cx="1097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ja-JP" altLang="en-US" u="sng" dirty="0">
                <a:solidFill>
                  <a:srgbClr val="FF0000"/>
                </a:solidFill>
                <a:latin typeface="+mn-ea"/>
              </a:rPr>
              <a:t>一部運用中</a:t>
            </a:r>
            <a:endParaRPr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2" name="TextBox 29">
            <a:extLst>
              <a:ext uri="{FF2B5EF4-FFF2-40B4-BE49-F238E27FC236}">
                <a16:creationId xmlns:a16="http://schemas.microsoft.com/office/drawing/2014/main" id="{7C675473-50AE-100D-BEC0-0DAC60FEDC24}"/>
              </a:ext>
            </a:extLst>
          </p:cNvPr>
          <p:cNvSpPr txBox="1"/>
          <p:nvPr/>
        </p:nvSpPr>
        <p:spPr>
          <a:xfrm>
            <a:off x="7155180" y="5319683"/>
            <a:ext cx="1645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u="sng" dirty="0">
                <a:solidFill>
                  <a:srgbClr val="FF0000"/>
                </a:solidFill>
                <a:latin typeface="+mn-ea"/>
              </a:rPr>
              <a:t>Spec-</a:t>
            </a:r>
            <a:r>
              <a:rPr lang="en-US" u="sng" dirty="0" err="1">
                <a:solidFill>
                  <a:srgbClr val="FF0000"/>
                </a:solidFill>
                <a:latin typeface="+mn-ea"/>
              </a:rPr>
              <a:t>Kit,AIDLC</a:t>
            </a:r>
            <a:endParaRPr lang="en-US" u="sng" dirty="0">
              <a:solidFill>
                <a:srgbClr val="FF0000"/>
              </a:solidFill>
              <a:latin typeface="+mn-ea"/>
            </a:endParaRP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ja-JP" altLang="en-US" u="sng" dirty="0">
                <a:solidFill>
                  <a:srgbClr val="FF0000"/>
                </a:solidFill>
                <a:latin typeface="+mn-ea"/>
              </a:rPr>
              <a:t>を参考に作成</a:t>
            </a:r>
            <a:endParaRPr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3" name="TextBox 29">
            <a:extLst>
              <a:ext uri="{FF2B5EF4-FFF2-40B4-BE49-F238E27FC236}">
                <a16:creationId xmlns:a16="http://schemas.microsoft.com/office/drawing/2014/main" id="{E08AA83C-A97E-A9E4-4EE1-C527716D4955}"/>
              </a:ext>
            </a:extLst>
          </p:cNvPr>
          <p:cNvSpPr txBox="1"/>
          <p:nvPr/>
        </p:nvSpPr>
        <p:spPr>
          <a:xfrm>
            <a:off x="1470259" y="5299522"/>
            <a:ext cx="163870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ja-JP" altLang="en-US" u="sng" dirty="0">
                <a:solidFill>
                  <a:srgbClr val="FF0000"/>
                </a:solidFill>
                <a:latin typeface="+mn-ea"/>
              </a:rPr>
              <a:t>チーム任せ</a:t>
            </a:r>
            <a:endParaRPr lang="en-US" altLang="ja-JP" u="sng" dirty="0">
              <a:solidFill>
                <a:srgbClr val="FF0000"/>
              </a:solidFill>
              <a:latin typeface="+mn-ea"/>
            </a:endParaRP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ja-JP" altLang="en-US" u="sng" dirty="0">
                <a:solidFill>
                  <a:srgbClr val="FF0000"/>
                </a:solidFill>
                <a:latin typeface="+mn-ea"/>
              </a:rPr>
              <a:t>未定義の部分が多い</a:t>
            </a:r>
            <a:endParaRPr u="sng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1033</Words>
  <Application>Microsoft Office PowerPoint</Application>
  <PresentationFormat>ワイド画面</PresentationFormat>
  <Paragraphs>197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Nakajima, Kazunori/中島 一憲</cp:lastModifiedBy>
  <cp:revision>2</cp:revision>
  <dcterms:created xsi:type="dcterms:W3CDTF">2013-01-27T09:14:16Z</dcterms:created>
  <dcterms:modified xsi:type="dcterms:W3CDTF">2026-03-23T06:50:09Z</dcterms:modified>
  <cp:category/>
</cp:coreProperties>
</file>